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4710" autoAdjust="0"/>
  </p:normalViewPr>
  <p:slideViewPr>
    <p:cSldViewPr snapToGrid="0">
      <p:cViewPr varScale="1">
        <p:scale>
          <a:sx n="79" d="100"/>
          <a:sy n="79" d="100"/>
        </p:scale>
        <p:origin x="66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212DC-63B1-4901-BBA1-0E9BAC33D41C}" type="datetimeFigureOut">
              <a:rPr lang="en-IN" smtClean="0"/>
              <a:pPr/>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F3EA8-841E-473D-8AEC-E28FC8B0AF52}" type="slidenum">
              <a:rPr lang="en-IN" smtClean="0"/>
              <a:pPr/>
              <a:t>‹#›</a:t>
            </a:fld>
            <a:endParaRPr lang="en-IN"/>
          </a:p>
        </p:txBody>
      </p:sp>
    </p:spTree>
    <p:extLst>
      <p:ext uri="{BB962C8B-B14F-4D97-AF65-F5344CB8AC3E}">
        <p14:creationId xmlns:p14="http://schemas.microsoft.com/office/powerpoint/2010/main" val="43144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6319-A308-F912-98A0-DA4BEBB306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95A3A9-BABD-E101-D66D-9587C045E0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4FC344-3DD8-DFAB-F626-0AB25F198491}"/>
              </a:ext>
            </a:extLst>
          </p:cNvPr>
          <p:cNvSpPr>
            <a:spLocks noGrp="1"/>
          </p:cNvSpPr>
          <p:nvPr>
            <p:ph type="dt" sz="half" idx="10"/>
          </p:nvPr>
        </p:nvSpPr>
        <p:spPr/>
        <p:txBody>
          <a:bodyPr/>
          <a:lstStyle/>
          <a:p>
            <a:fld id="{9F581E3C-67C9-4E54-9C96-609DB95E917A}" type="datetime1">
              <a:rPr lang="en-IN" smtClean="0"/>
              <a:pPr/>
              <a:t>01-12-2025</a:t>
            </a:fld>
            <a:endParaRPr lang="en-IN"/>
          </a:p>
        </p:txBody>
      </p:sp>
      <p:sp>
        <p:nvSpPr>
          <p:cNvPr id="5" name="Footer Placeholder 4">
            <a:extLst>
              <a:ext uri="{FF2B5EF4-FFF2-40B4-BE49-F238E27FC236}">
                <a16:creationId xmlns:a16="http://schemas.microsoft.com/office/drawing/2014/main" id="{1DBD9616-8F44-D4FF-1158-6AA2C33D75F6}"/>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E34D60FB-7A7E-533E-D533-65F71B6B041E}"/>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76153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1285D-5287-8EE8-EEEE-11E7EDAEF7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62BC6B-184B-86C3-0EC1-9FDDEBEDB2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F883C2-5976-C476-0985-E1190F95B9B1}"/>
              </a:ext>
            </a:extLst>
          </p:cNvPr>
          <p:cNvSpPr>
            <a:spLocks noGrp="1"/>
          </p:cNvSpPr>
          <p:nvPr>
            <p:ph type="dt" sz="half" idx="10"/>
          </p:nvPr>
        </p:nvSpPr>
        <p:spPr/>
        <p:txBody>
          <a:bodyPr/>
          <a:lstStyle/>
          <a:p>
            <a:fld id="{38719C42-D2BA-4017-A953-B071F3164927}" type="datetime1">
              <a:rPr lang="en-IN" smtClean="0"/>
              <a:pPr/>
              <a:t>01-12-2025</a:t>
            </a:fld>
            <a:endParaRPr lang="en-IN"/>
          </a:p>
        </p:txBody>
      </p:sp>
      <p:sp>
        <p:nvSpPr>
          <p:cNvPr id="5" name="Footer Placeholder 4">
            <a:extLst>
              <a:ext uri="{FF2B5EF4-FFF2-40B4-BE49-F238E27FC236}">
                <a16:creationId xmlns:a16="http://schemas.microsoft.com/office/drawing/2014/main" id="{BC22A1EC-2DCA-A0DA-31C6-DD99B75224EE}"/>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B97D198B-0755-DAA8-D8CA-262B1CD5CD0F}"/>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200473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002D-2F14-645A-DF78-448C384C93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2E3FE0-ED92-31D6-2E19-C62A7233A5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E39F54-4D51-5942-68A9-32503811467D}"/>
              </a:ext>
            </a:extLst>
          </p:cNvPr>
          <p:cNvSpPr>
            <a:spLocks noGrp="1"/>
          </p:cNvSpPr>
          <p:nvPr>
            <p:ph type="dt" sz="half" idx="10"/>
          </p:nvPr>
        </p:nvSpPr>
        <p:spPr/>
        <p:txBody>
          <a:bodyPr/>
          <a:lstStyle/>
          <a:p>
            <a:fld id="{348B2499-6AE4-4765-AAD3-5C49955F2965}" type="datetime1">
              <a:rPr lang="en-IN" smtClean="0"/>
              <a:pPr/>
              <a:t>01-12-2025</a:t>
            </a:fld>
            <a:endParaRPr lang="en-IN"/>
          </a:p>
        </p:txBody>
      </p:sp>
      <p:sp>
        <p:nvSpPr>
          <p:cNvPr id="5" name="Footer Placeholder 4">
            <a:extLst>
              <a:ext uri="{FF2B5EF4-FFF2-40B4-BE49-F238E27FC236}">
                <a16:creationId xmlns:a16="http://schemas.microsoft.com/office/drawing/2014/main" id="{639C12A5-F4FC-0681-61C7-6AFE55461E4F}"/>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7B6874FC-19CD-22B6-7F2F-4FF1A498681F}"/>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669996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13AC-D9FB-240C-AC1F-75D50B28D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E76AE1-CAD2-8E09-8E30-445482B728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987987-5700-7939-34DA-342250E81D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0DA8DF-DEE3-75EC-FB42-90C26B08ED6E}"/>
              </a:ext>
            </a:extLst>
          </p:cNvPr>
          <p:cNvSpPr>
            <a:spLocks noGrp="1"/>
          </p:cNvSpPr>
          <p:nvPr>
            <p:ph type="dt" sz="half" idx="10"/>
          </p:nvPr>
        </p:nvSpPr>
        <p:spPr/>
        <p:txBody>
          <a:bodyPr/>
          <a:lstStyle/>
          <a:p>
            <a:fld id="{7404FC9B-F39A-4699-8446-235DF37593BE}" type="datetime1">
              <a:rPr lang="en-IN" smtClean="0"/>
              <a:pPr/>
              <a:t>01-12-2025</a:t>
            </a:fld>
            <a:endParaRPr lang="en-IN"/>
          </a:p>
        </p:txBody>
      </p:sp>
      <p:sp>
        <p:nvSpPr>
          <p:cNvPr id="6" name="Footer Placeholder 5">
            <a:extLst>
              <a:ext uri="{FF2B5EF4-FFF2-40B4-BE49-F238E27FC236}">
                <a16:creationId xmlns:a16="http://schemas.microsoft.com/office/drawing/2014/main" id="{E12413CE-C8ED-B322-8924-08B7485A1B01}"/>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0D0C9AC9-C87C-545D-2EB1-8537281F918B}"/>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28072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9296-CE17-B399-6FF0-EAABC14794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257FFB-29F6-4141-EE60-AFBA3A3156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D39821-7007-E5CB-EE64-6A52119684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9329FA-F8F3-9914-B9FD-594BE7D478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824C72-940D-8490-9B9E-CAFB57526D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DD6681-833A-3A07-5E06-28FEC1652BD4}"/>
              </a:ext>
            </a:extLst>
          </p:cNvPr>
          <p:cNvSpPr>
            <a:spLocks noGrp="1"/>
          </p:cNvSpPr>
          <p:nvPr>
            <p:ph type="dt" sz="half" idx="10"/>
          </p:nvPr>
        </p:nvSpPr>
        <p:spPr/>
        <p:txBody>
          <a:bodyPr/>
          <a:lstStyle/>
          <a:p>
            <a:fld id="{64E88B8E-1EC1-4AA1-8442-976A60A5AF62}" type="datetime1">
              <a:rPr lang="en-IN" smtClean="0"/>
              <a:pPr/>
              <a:t>01-12-2025</a:t>
            </a:fld>
            <a:endParaRPr lang="en-IN"/>
          </a:p>
        </p:txBody>
      </p:sp>
      <p:sp>
        <p:nvSpPr>
          <p:cNvPr id="8" name="Footer Placeholder 7">
            <a:extLst>
              <a:ext uri="{FF2B5EF4-FFF2-40B4-BE49-F238E27FC236}">
                <a16:creationId xmlns:a16="http://schemas.microsoft.com/office/drawing/2014/main" id="{276F6858-5713-0BB1-E024-CD444B30140C}"/>
              </a:ext>
            </a:extLst>
          </p:cNvPr>
          <p:cNvSpPr>
            <a:spLocks noGrp="1"/>
          </p:cNvSpPr>
          <p:nvPr>
            <p:ph type="ftr" sz="quarter" idx="11"/>
          </p:nvPr>
        </p:nvSpPr>
        <p:spPr/>
        <p:txBody>
          <a:bodyPr/>
          <a:lstStyle/>
          <a:p>
            <a:r>
              <a:rPr lang="en-IN"/>
              <a:t>Dept. of ______, SVIT</a:t>
            </a:r>
          </a:p>
        </p:txBody>
      </p:sp>
      <p:sp>
        <p:nvSpPr>
          <p:cNvPr id="9" name="Slide Number Placeholder 8">
            <a:extLst>
              <a:ext uri="{FF2B5EF4-FFF2-40B4-BE49-F238E27FC236}">
                <a16:creationId xmlns:a16="http://schemas.microsoft.com/office/drawing/2014/main" id="{FE12347E-5BE8-4A8A-F644-3D7A787F66E7}"/>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019876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95C8-F6E5-BADD-8E4A-F17C9D1BE4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F49EFC-93C6-4244-08D8-485B720E1BD7}"/>
              </a:ext>
            </a:extLst>
          </p:cNvPr>
          <p:cNvSpPr>
            <a:spLocks noGrp="1"/>
          </p:cNvSpPr>
          <p:nvPr>
            <p:ph type="dt" sz="half" idx="10"/>
          </p:nvPr>
        </p:nvSpPr>
        <p:spPr/>
        <p:txBody>
          <a:bodyPr/>
          <a:lstStyle/>
          <a:p>
            <a:fld id="{180AF14F-E1A4-498A-B95C-39340BEAF30E}" type="datetime1">
              <a:rPr lang="en-IN" smtClean="0"/>
              <a:pPr/>
              <a:t>01-12-2025</a:t>
            </a:fld>
            <a:endParaRPr lang="en-IN"/>
          </a:p>
        </p:txBody>
      </p:sp>
      <p:sp>
        <p:nvSpPr>
          <p:cNvPr id="4" name="Footer Placeholder 3">
            <a:extLst>
              <a:ext uri="{FF2B5EF4-FFF2-40B4-BE49-F238E27FC236}">
                <a16:creationId xmlns:a16="http://schemas.microsoft.com/office/drawing/2014/main" id="{621C247F-46FD-8A89-1063-9C193E969247}"/>
              </a:ext>
            </a:extLst>
          </p:cNvPr>
          <p:cNvSpPr>
            <a:spLocks noGrp="1"/>
          </p:cNvSpPr>
          <p:nvPr>
            <p:ph type="ftr" sz="quarter" idx="11"/>
          </p:nvPr>
        </p:nvSpPr>
        <p:spPr/>
        <p:txBody>
          <a:bodyPr/>
          <a:lstStyle/>
          <a:p>
            <a:r>
              <a:rPr lang="en-IN"/>
              <a:t>Dept. of ______, SVIT</a:t>
            </a:r>
          </a:p>
        </p:txBody>
      </p:sp>
      <p:sp>
        <p:nvSpPr>
          <p:cNvPr id="5" name="Slide Number Placeholder 4">
            <a:extLst>
              <a:ext uri="{FF2B5EF4-FFF2-40B4-BE49-F238E27FC236}">
                <a16:creationId xmlns:a16="http://schemas.microsoft.com/office/drawing/2014/main" id="{C3EBAA23-A687-0435-CEE3-2825E40BD5E0}"/>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594130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475FA-9B4B-9C0A-F726-64CB7A690FF0}"/>
              </a:ext>
            </a:extLst>
          </p:cNvPr>
          <p:cNvSpPr>
            <a:spLocks noGrp="1"/>
          </p:cNvSpPr>
          <p:nvPr>
            <p:ph type="dt" sz="half" idx="10"/>
          </p:nvPr>
        </p:nvSpPr>
        <p:spPr/>
        <p:txBody>
          <a:bodyPr/>
          <a:lstStyle/>
          <a:p>
            <a:fld id="{5EF8A45C-598F-4727-8B2E-C8A0DD0AD628}" type="datetime1">
              <a:rPr lang="en-IN" smtClean="0"/>
              <a:pPr/>
              <a:t>01-12-2025</a:t>
            </a:fld>
            <a:endParaRPr lang="en-IN"/>
          </a:p>
        </p:txBody>
      </p:sp>
      <p:sp>
        <p:nvSpPr>
          <p:cNvPr id="3" name="Footer Placeholder 2">
            <a:extLst>
              <a:ext uri="{FF2B5EF4-FFF2-40B4-BE49-F238E27FC236}">
                <a16:creationId xmlns:a16="http://schemas.microsoft.com/office/drawing/2014/main" id="{F2BC361B-14AA-C49A-EE08-CFDAB136C191}"/>
              </a:ext>
            </a:extLst>
          </p:cNvPr>
          <p:cNvSpPr>
            <a:spLocks noGrp="1"/>
          </p:cNvSpPr>
          <p:nvPr>
            <p:ph type="ftr" sz="quarter" idx="11"/>
          </p:nvPr>
        </p:nvSpPr>
        <p:spPr/>
        <p:txBody>
          <a:bodyPr/>
          <a:lstStyle/>
          <a:p>
            <a:r>
              <a:rPr lang="en-IN"/>
              <a:t>Dept. of ______, SVIT</a:t>
            </a:r>
          </a:p>
        </p:txBody>
      </p:sp>
      <p:sp>
        <p:nvSpPr>
          <p:cNvPr id="4" name="Slide Number Placeholder 3">
            <a:extLst>
              <a:ext uri="{FF2B5EF4-FFF2-40B4-BE49-F238E27FC236}">
                <a16:creationId xmlns:a16="http://schemas.microsoft.com/office/drawing/2014/main" id="{14B42F5B-0FFE-F407-8671-591AFD7E6E20}"/>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76753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74C33-A61E-0A5A-1139-49B7D937F7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A9220A-F12B-3D6D-EC13-722E3EF668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056CC9-9FC2-1CBC-EA53-512462F7BD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DB5C8-C11D-29E7-0E9B-ED38D1FF5FFE}"/>
              </a:ext>
            </a:extLst>
          </p:cNvPr>
          <p:cNvSpPr>
            <a:spLocks noGrp="1"/>
          </p:cNvSpPr>
          <p:nvPr>
            <p:ph type="dt" sz="half" idx="10"/>
          </p:nvPr>
        </p:nvSpPr>
        <p:spPr/>
        <p:txBody>
          <a:bodyPr/>
          <a:lstStyle/>
          <a:p>
            <a:fld id="{07DD7A5D-1021-4B52-90B0-EF816597ACA7}" type="datetime1">
              <a:rPr lang="en-IN" smtClean="0"/>
              <a:pPr/>
              <a:t>01-12-2025</a:t>
            </a:fld>
            <a:endParaRPr lang="en-IN"/>
          </a:p>
        </p:txBody>
      </p:sp>
      <p:sp>
        <p:nvSpPr>
          <p:cNvPr id="6" name="Footer Placeholder 5">
            <a:extLst>
              <a:ext uri="{FF2B5EF4-FFF2-40B4-BE49-F238E27FC236}">
                <a16:creationId xmlns:a16="http://schemas.microsoft.com/office/drawing/2014/main" id="{65BD438D-9965-9407-1730-B9C5CDE7A270}"/>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AB0261FE-EE58-2472-17B7-91A572AFF4AC}"/>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863878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AE7F-00AC-60D6-1470-00F1AD410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16A42C-8172-8DB0-4414-1B25451655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15A13AD-8E54-74B1-3080-10B536C101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61FA1-504A-80E3-8C70-8B821904BAE5}"/>
              </a:ext>
            </a:extLst>
          </p:cNvPr>
          <p:cNvSpPr>
            <a:spLocks noGrp="1"/>
          </p:cNvSpPr>
          <p:nvPr>
            <p:ph type="dt" sz="half" idx="10"/>
          </p:nvPr>
        </p:nvSpPr>
        <p:spPr/>
        <p:txBody>
          <a:bodyPr/>
          <a:lstStyle/>
          <a:p>
            <a:fld id="{FE5969E7-79C4-4A94-B28F-A9328DB4EFCB}" type="datetime1">
              <a:rPr lang="en-IN" smtClean="0"/>
              <a:pPr/>
              <a:t>01-12-2025</a:t>
            </a:fld>
            <a:endParaRPr lang="en-IN"/>
          </a:p>
        </p:txBody>
      </p:sp>
      <p:sp>
        <p:nvSpPr>
          <p:cNvPr id="6" name="Footer Placeholder 5">
            <a:extLst>
              <a:ext uri="{FF2B5EF4-FFF2-40B4-BE49-F238E27FC236}">
                <a16:creationId xmlns:a16="http://schemas.microsoft.com/office/drawing/2014/main" id="{FE75FC90-E0A9-A634-B97B-92FF50F3FDC3}"/>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3CBD7CCB-9B1C-A4EF-D251-C8C9CD30BEFC}"/>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420492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1098-9C00-EB5A-3E94-64943747DD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4EF428-9C83-05DA-10B9-161DDDE5B9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02E13A-0A82-A242-C995-DDF0B1A2166D}"/>
              </a:ext>
            </a:extLst>
          </p:cNvPr>
          <p:cNvSpPr>
            <a:spLocks noGrp="1"/>
          </p:cNvSpPr>
          <p:nvPr>
            <p:ph type="dt" sz="half" idx="10"/>
          </p:nvPr>
        </p:nvSpPr>
        <p:spPr/>
        <p:txBody>
          <a:bodyPr/>
          <a:lstStyle/>
          <a:p>
            <a:fld id="{CA3FC8AF-2C1C-4DED-B122-F3F987FFD32E}" type="datetime1">
              <a:rPr lang="en-IN" smtClean="0"/>
              <a:pPr/>
              <a:t>01-12-2025</a:t>
            </a:fld>
            <a:endParaRPr lang="en-IN"/>
          </a:p>
        </p:txBody>
      </p:sp>
      <p:sp>
        <p:nvSpPr>
          <p:cNvPr id="5" name="Footer Placeholder 4">
            <a:extLst>
              <a:ext uri="{FF2B5EF4-FFF2-40B4-BE49-F238E27FC236}">
                <a16:creationId xmlns:a16="http://schemas.microsoft.com/office/drawing/2014/main" id="{5E0A4329-220C-6F1A-2D7E-49DFDB03F1F7}"/>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39D4C541-AEDF-EBFD-9F5C-7E436065E915}"/>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708412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51390E-5141-8EE5-8AE3-FDEBB706C0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A7E50D-55DA-4E9C-E1E5-F2562D3B6F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8C9AEC-4397-B9B3-0C17-D822B88E73EB}"/>
              </a:ext>
            </a:extLst>
          </p:cNvPr>
          <p:cNvSpPr>
            <a:spLocks noGrp="1"/>
          </p:cNvSpPr>
          <p:nvPr>
            <p:ph type="dt" sz="half" idx="10"/>
          </p:nvPr>
        </p:nvSpPr>
        <p:spPr/>
        <p:txBody>
          <a:bodyPr/>
          <a:lstStyle/>
          <a:p>
            <a:fld id="{8E0A08CD-0F90-4DE0-9EDF-4BBA84206F97}" type="datetime1">
              <a:rPr lang="en-IN" smtClean="0"/>
              <a:pPr/>
              <a:t>01-12-2025</a:t>
            </a:fld>
            <a:endParaRPr lang="en-IN"/>
          </a:p>
        </p:txBody>
      </p:sp>
      <p:sp>
        <p:nvSpPr>
          <p:cNvPr id="5" name="Footer Placeholder 4">
            <a:extLst>
              <a:ext uri="{FF2B5EF4-FFF2-40B4-BE49-F238E27FC236}">
                <a16:creationId xmlns:a16="http://schemas.microsoft.com/office/drawing/2014/main" id="{0C05C004-9C38-5BC5-EFD8-9C25CAE4A06B}"/>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0192841B-2CD7-5946-01EF-EEF79B923321}"/>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76962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FA055-ED82-A201-EE68-640D5B44BE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C902F8-4693-2946-5215-C188FE283D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4CE204-B8D2-2024-EE6D-29B0B906AD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65449-3EB2-4FB5-A641-69ABCD165F12}" type="datetime1">
              <a:rPr lang="en-IN" smtClean="0"/>
              <a:pPr/>
              <a:t>01-12-2025</a:t>
            </a:fld>
            <a:endParaRPr lang="en-IN"/>
          </a:p>
        </p:txBody>
      </p:sp>
      <p:sp>
        <p:nvSpPr>
          <p:cNvPr id="5" name="Footer Placeholder 4">
            <a:extLst>
              <a:ext uri="{FF2B5EF4-FFF2-40B4-BE49-F238E27FC236}">
                <a16:creationId xmlns:a16="http://schemas.microsoft.com/office/drawing/2014/main" id="{4927B35A-6293-036B-E0E4-EF001FC17A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______, SVIT</a:t>
            </a:r>
          </a:p>
        </p:txBody>
      </p:sp>
      <p:sp>
        <p:nvSpPr>
          <p:cNvPr id="6" name="Slide Number Placeholder 5">
            <a:extLst>
              <a:ext uri="{FF2B5EF4-FFF2-40B4-BE49-F238E27FC236}">
                <a16:creationId xmlns:a16="http://schemas.microsoft.com/office/drawing/2014/main" id="{B10CC809-B30A-766C-D43E-D40A279E8C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20A1-FA28-4834-83A8-C0CE35CB1668}" type="slidenum">
              <a:rPr lang="en-IN" smtClean="0"/>
              <a:pPr/>
              <a:t>‹#›</a:t>
            </a:fld>
            <a:endParaRPr lang="en-IN"/>
          </a:p>
        </p:txBody>
      </p:sp>
    </p:spTree>
    <p:extLst>
      <p:ext uri="{BB962C8B-B14F-4D97-AF65-F5344CB8AC3E}">
        <p14:creationId xmlns:p14="http://schemas.microsoft.com/office/powerpoint/2010/main" val="57238064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espressif.com/" TargetMode="External"/><Relationship Id="rId2" Type="http://schemas.openxmlformats.org/officeDocument/2006/relationships/hyperlink" Target="http://www.arduino.c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D11E-1799-45FA-B0C6-7D6F2A6E14BC}"/>
              </a:ext>
            </a:extLst>
          </p:cNvPr>
          <p:cNvSpPr>
            <a:spLocks noGrp="1"/>
          </p:cNvSpPr>
          <p:nvPr>
            <p:ph type="ctrTitle"/>
          </p:nvPr>
        </p:nvSpPr>
        <p:spPr>
          <a:xfrm>
            <a:off x="-2" y="386597"/>
            <a:ext cx="12192000" cy="913827"/>
          </a:xfrm>
        </p:spPr>
        <p:txBody>
          <a:bodyPr>
            <a:normAutofit/>
          </a:bodyPr>
          <a:lstStyle/>
          <a:p>
            <a:r>
              <a:rPr lang="en-IN" sz="3600" b="1" dirty="0">
                <a:ln w="22225">
                  <a:solidFill>
                    <a:srgbClr val="C00000"/>
                  </a:solidFill>
                  <a:prstDash val="solid"/>
                </a:ln>
                <a:solidFill>
                  <a:srgbClr val="C00000"/>
                </a:solidFill>
                <a:latin typeface="+mn-lt"/>
                <a:cs typeface="Times New Roman" panose="02020603050405020304" pitchFamily="18" charset="0"/>
              </a:rPr>
              <a:t>EAST POINT COLLEGE OF ENGINEERING &amp; TECHNOLOGY</a:t>
            </a:r>
          </a:p>
        </p:txBody>
      </p:sp>
      <p:sp>
        <p:nvSpPr>
          <p:cNvPr id="5" name="TextBox 4">
            <a:extLst>
              <a:ext uri="{FF2B5EF4-FFF2-40B4-BE49-F238E27FC236}">
                <a16:creationId xmlns:a16="http://schemas.microsoft.com/office/drawing/2014/main" id="{FACE4605-4953-4CBB-B635-0B0762C43748}"/>
              </a:ext>
            </a:extLst>
          </p:cNvPr>
          <p:cNvSpPr txBox="1"/>
          <p:nvPr/>
        </p:nvSpPr>
        <p:spPr>
          <a:xfrm>
            <a:off x="1243668" y="3619136"/>
            <a:ext cx="10080824" cy="1261884"/>
          </a:xfrm>
          <a:prstGeom prst="rect">
            <a:avLst/>
          </a:prstGeom>
          <a:noFill/>
        </p:spPr>
        <p:txBody>
          <a:bodyPr wrap="square" rtlCol="0">
            <a:spAutoFit/>
          </a:bodyPr>
          <a:lstStyle/>
          <a:p>
            <a:pPr algn="ctr"/>
            <a:r>
              <a:rPr lang="en-US" sz="2400" b="1" dirty="0">
                <a:solidFill>
                  <a:srgbClr val="002060"/>
                </a:solidFill>
              </a:rPr>
              <a:t>Project Title: Smart Glove for Sign Language Translation and Gesture-controlled Home automation.</a:t>
            </a:r>
            <a:endParaRPr lang="en-US" sz="2800" b="1" dirty="0">
              <a:solidFill>
                <a:srgbClr val="002060"/>
              </a:solidFill>
            </a:endParaRPr>
          </a:p>
          <a:p>
            <a:pPr algn="ctr"/>
            <a:r>
              <a:rPr lang="en-IN" sz="2800" b="1" dirty="0">
                <a:solidFill>
                  <a:srgbClr val="002060"/>
                </a:solidFill>
              </a:rPr>
              <a:t>“</a:t>
            </a:r>
            <a:r>
              <a:rPr lang="en-IN" sz="2800" b="1" dirty="0" err="1">
                <a:solidFill>
                  <a:srgbClr val="002060"/>
                </a:solidFill>
              </a:rPr>
              <a:t>SignRythm</a:t>
            </a:r>
            <a:r>
              <a:rPr lang="en-IN" sz="2800" b="1" dirty="0">
                <a:solidFill>
                  <a:srgbClr val="002060"/>
                </a:solidFill>
              </a:rPr>
              <a:t>”</a:t>
            </a:r>
          </a:p>
        </p:txBody>
      </p:sp>
      <p:sp>
        <p:nvSpPr>
          <p:cNvPr id="6" name="TextBox 5">
            <a:extLst>
              <a:ext uri="{FF2B5EF4-FFF2-40B4-BE49-F238E27FC236}">
                <a16:creationId xmlns:a16="http://schemas.microsoft.com/office/drawing/2014/main" id="{842CF2DE-BB0C-4F8A-A1B5-9C68C76566B8}"/>
              </a:ext>
            </a:extLst>
          </p:cNvPr>
          <p:cNvSpPr txBox="1"/>
          <p:nvPr/>
        </p:nvSpPr>
        <p:spPr>
          <a:xfrm>
            <a:off x="398073" y="5208959"/>
            <a:ext cx="4141201" cy="1569660"/>
          </a:xfrm>
          <a:prstGeom prst="rect">
            <a:avLst/>
          </a:prstGeom>
          <a:noFill/>
        </p:spPr>
        <p:txBody>
          <a:bodyPr wrap="square" rtlCol="0">
            <a:spAutoFit/>
          </a:bodyPr>
          <a:lstStyle/>
          <a:p>
            <a:pPr algn="ctr"/>
            <a:r>
              <a:rPr lang="en-IN" sz="2400" b="1" dirty="0">
                <a:solidFill>
                  <a:srgbClr val="002060"/>
                </a:solidFill>
              </a:rPr>
              <a:t>By</a:t>
            </a:r>
          </a:p>
          <a:p>
            <a:pPr lvl="0"/>
            <a:r>
              <a:rPr lang="en-IN" b="1" dirty="0" err="1">
                <a:solidFill>
                  <a:srgbClr val="002060"/>
                </a:solidFill>
                <a:ea typeface="Calibri"/>
                <a:cs typeface="Calibri"/>
                <a:sym typeface="Calibri"/>
              </a:rPr>
              <a:t>Jayalaxmi</a:t>
            </a:r>
            <a:r>
              <a:rPr lang="en-IN" b="1" dirty="0">
                <a:solidFill>
                  <a:srgbClr val="002060"/>
                </a:solidFill>
                <a:ea typeface="Calibri"/>
                <a:cs typeface="Calibri"/>
                <a:sym typeface="Calibri"/>
              </a:rPr>
              <a:t>                 -  1EP22IC024</a:t>
            </a:r>
          </a:p>
          <a:p>
            <a:r>
              <a:rPr lang="en-IN" b="1" dirty="0" err="1">
                <a:solidFill>
                  <a:srgbClr val="002060"/>
                </a:solidFill>
                <a:ea typeface="Calibri"/>
                <a:cs typeface="Calibri"/>
                <a:sym typeface="Calibri"/>
              </a:rPr>
              <a:t>Pavan</a:t>
            </a:r>
            <a:r>
              <a:rPr lang="en-IN" b="1" dirty="0">
                <a:solidFill>
                  <a:srgbClr val="002060"/>
                </a:solidFill>
                <a:ea typeface="Calibri"/>
                <a:cs typeface="Calibri"/>
                <a:sym typeface="Calibri"/>
              </a:rPr>
              <a:t> Kumar H M  -   1EP22IC039</a:t>
            </a:r>
          </a:p>
          <a:p>
            <a:r>
              <a:rPr lang="en-IN" b="1" dirty="0">
                <a:solidFill>
                  <a:srgbClr val="002060"/>
                </a:solidFill>
                <a:ea typeface="Calibri"/>
                <a:cs typeface="Calibri"/>
                <a:sym typeface="Calibri"/>
              </a:rPr>
              <a:t>Tanaya S                   -  1EP22IC055</a:t>
            </a:r>
          </a:p>
          <a:p>
            <a:r>
              <a:rPr lang="en-IN" b="1" dirty="0" err="1">
                <a:solidFill>
                  <a:srgbClr val="002060"/>
                </a:solidFill>
                <a:ea typeface="Calibri"/>
                <a:cs typeface="Calibri"/>
                <a:sym typeface="Calibri"/>
              </a:rPr>
              <a:t>Vaishnavi</a:t>
            </a:r>
            <a:r>
              <a:rPr lang="en-IN" b="1" dirty="0">
                <a:solidFill>
                  <a:srgbClr val="002060"/>
                </a:solidFill>
                <a:ea typeface="Calibri"/>
                <a:cs typeface="Calibri"/>
                <a:sym typeface="Calibri"/>
              </a:rPr>
              <a:t>                 -  1EP22IC058</a:t>
            </a:r>
          </a:p>
        </p:txBody>
      </p:sp>
      <p:sp>
        <p:nvSpPr>
          <p:cNvPr id="8" name="TextBox 7">
            <a:extLst>
              <a:ext uri="{FF2B5EF4-FFF2-40B4-BE49-F238E27FC236}">
                <a16:creationId xmlns:a16="http://schemas.microsoft.com/office/drawing/2014/main" id="{3E4D2BB2-F645-4614-9A42-33A44804E7A8}"/>
              </a:ext>
            </a:extLst>
          </p:cNvPr>
          <p:cNvSpPr txBox="1"/>
          <p:nvPr/>
        </p:nvSpPr>
        <p:spPr>
          <a:xfrm>
            <a:off x="0" y="-24402"/>
            <a:ext cx="12191999" cy="584775"/>
          </a:xfrm>
          <a:prstGeom prst="rect">
            <a:avLst/>
          </a:prstGeom>
          <a:solidFill>
            <a:srgbClr val="002060"/>
          </a:solidFill>
        </p:spPr>
        <p:txBody>
          <a:bodyPr wrap="square" rtlCol="0">
            <a:spAutoFit/>
          </a:bodyPr>
          <a:lstStyle/>
          <a:p>
            <a:pPr algn="ctr"/>
            <a:r>
              <a:rPr lang="en-IN" sz="3200" b="1" dirty="0">
                <a:solidFill>
                  <a:schemeClr val="bg1"/>
                </a:solidFill>
              </a:rPr>
              <a:t>Department of Computer Science and Engineering (</a:t>
            </a:r>
            <a:r>
              <a:rPr lang="en-IN" sz="3200" b="1" dirty="0" err="1">
                <a:solidFill>
                  <a:schemeClr val="bg1"/>
                </a:solidFill>
              </a:rPr>
              <a:t>IoT&amp;CSBT</a:t>
            </a:r>
            <a:r>
              <a:rPr lang="en-IN" sz="3200" b="1" dirty="0">
                <a:solidFill>
                  <a:schemeClr val="bg1"/>
                </a:solidFill>
              </a:rPr>
              <a:t>)</a:t>
            </a:r>
          </a:p>
        </p:txBody>
      </p:sp>
      <p:sp>
        <p:nvSpPr>
          <p:cNvPr id="10" name="TextBox 9">
            <a:extLst>
              <a:ext uri="{FF2B5EF4-FFF2-40B4-BE49-F238E27FC236}">
                <a16:creationId xmlns:a16="http://schemas.microsoft.com/office/drawing/2014/main" id="{5CDDFF03-671F-44F5-A1B6-42884E535C90}"/>
              </a:ext>
            </a:extLst>
          </p:cNvPr>
          <p:cNvSpPr txBox="1"/>
          <p:nvPr/>
        </p:nvSpPr>
        <p:spPr>
          <a:xfrm>
            <a:off x="0" y="3029586"/>
            <a:ext cx="12191998" cy="461665"/>
          </a:xfrm>
          <a:prstGeom prst="rect">
            <a:avLst/>
          </a:prstGeom>
          <a:solidFill>
            <a:schemeClr val="bg1"/>
          </a:solidFill>
        </p:spPr>
        <p:txBody>
          <a:bodyPr wrap="square" rtlCol="0">
            <a:spAutoFit/>
          </a:bodyPr>
          <a:lstStyle/>
          <a:p>
            <a:pPr algn="ctr"/>
            <a:r>
              <a:rPr lang="en-IN" sz="2400" b="1" dirty="0"/>
              <a:t>BIC685 - Project Presentation</a:t>
            </a:r>
          </a:p>
        </p:txBody>
      </p:sp>
      <p:pic>
        <p:nvPicPr>
          <p:cNvPr id="11" name="Picture 10"/>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499" y="1390457"/>
            <a:ext cx="1905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B54F4046-2247-4401-88D7-9C839B401B89}"/>
              </a:ext>
            </a:extLst>
          </p:cNvPr>
          <p:cNvSpPr txBox="1"/>
          <p:nvPr/>
        </p:nvSpPr>
        <p:spPr>
          <a:xfrm>
            <a:off x="6284080" y="5070460"/>
            <a:ext cx="5509847" cy="1569660"/>
          </a:xfrm>
          <a:prstGeom prst="rect">
            <a:avLst/>
          </a:prstGeom>
          <a:noFill/>
        </p:spPr>
        <p:txBody>
          <a:bodyPr wrap="square" rtlCol="0">
            <a:spAutoFit/>
          </a:bodyPr>
          <a:lstStyle/>
          <a:p>
            <a:r>
              <a:rPr lang="en-IN" sz="1600" b="1" dirty="0">
                <a:solidFill>
                  <a:srgbClr val="002060"/>
                </a:solidFill>
              </a:rPr>
              <a:t>Under the guidance of</a:t>
            </a:r>
          </a:p>
          <a:p>
            <a:r>
              <a:rPr lang="en-IN" sz="1600" b="1" dirty="0">
                <a:solidFill>
                  <a:srgbClr val="002060"/>
                </a:solidFill>
              </a:rPr>
              <a:t>Prof Jay Prakash Malviya, Assistant Prof, Dept of CSE(</a:t>
            </a:r>
            <a:r>
              <a:rPr lang="en-IN" sz="1600" b="1" dirty="0" err="1">
                <a:solidFill>
                  <a:srgbClr val="002060"/>
                </a:solidFill>
              </a:rPr>
              <a:t>IoT&amp;CSBT</a:t>
            </a:r>
            <a:r>
              <a:rPr lang="en-IN" sz="1600" b="1" dirty="0">
                <a:solidFill>
                  <a:srgbClr val="002060"/>
                </a:solidFill>
              </a:rPr>
              <a:t>)</a:t>
            </a:r>
            <a:endParaRPr lang="en-IN" sz="2400" b="1" dirty="0">
              <a:solidFill>
                <a:srgbClr val="002060"/>
              </a:solidFill>
            </a:endParaRPr>
          </a:p>
          <a:p>
            <a:r>
              <a:rPr lang="en-IN" sz="1600" b="1" dirty="0">
                <a:solidFill>
                  <a:srgbClr val="002060"/>
                </a:solidFill>
              </a:rPr>
              <a:t>Project Committee</a:t>
            </a:r>
          </a:p>
          <a:p>
            <a:r>
              <a:rPr lang="en-IN" sz="1600" b="1" dirty="0">
                <a:solidFill>
                  <a:srgbClr val="002060"/>
                </a:solidFill>
              </a:rPr>
              <a:t>Dr. Komala C R, Professor, Dept. of CSE (</a:t>
            </a:r>
            <a:r>
              <a:rPr lang="en-IN" sz="1600" b="1" dirty="0" err="1">
                <a:solidFill>
                  <a:srgbClr val="002060"/>
                </a:solidFill>
              </a:rPr>
              <a:t>IoT&amp;CSBT</a:t>
            </a:r>
            <a:r>
              <a:rPr lang="en-IN" sz="1600" b="1" dirty="0">
                <a:solidFill>
                  <a:srgbClr val="002060"/>
                </a:solidFill>
              </a:rPr>
              <a:t>) </a:t>
            </a:r>
          </a:p>
          <a:p>
            <a:r>
              <a:rPr lang="en-IN" sz="1600" b="1" dirty="0">
                <a:solidFill>
                  <a:srgbClr val="002060"/>
                </a:solidFill>
              </a:rPr>
              <a:t>Dr. Nanda Ashwin, Prof &amp; HOD, Dept. of CSE (IoT&amp;CSBT) </a:t>
            </a:r>
          </a:p>
        </p:txBody>
      </p:sp>
      <p:sp>
        <p:nvSpPr>
          <p:cNvPr id="7" name="Slide Number Placeholder 6">
            <a:extLst>
              <a:ext uri="{FF2B5EF4-FFF2-40B4-BE49-F238E27FC236}">
                <a16:creationId xmlns:a16="http://schemas.microsoft.com/office/drawing/2014/main" id="{B5AF1712-F75C-ADBB-484F-346F9274AB61}"/>
              </a:ext>
            </a:extLst>
          </p:cNvPr>
          <p:cNvSpPr>
            <a:spLocks noGrp="1"/>
          </p:cNvSpPr>
          <p:nvPr>
            <p:ph type="sldNum" sz="quarter" idx="12"/>
          </p:nvPr>
        </p:nvSpPr>
        <p:spPr/>
        <p:txBody>
          <a:bodyPr/>
          <a:lstStyle/>
          <a:p>
            <a:fld id="{249020A1-FA28-4834-83A8-C0CE35CB1668}" type="slidenum">
              <a:rPr lang="en-IN" smtClean="0"/>
              <a:pPr/>
              <a:t>1</a:t>
            </a:fld>
            <a:endParaRPr lang="en-IN"/>
          </a:p>
        </p:txBody>
      </p:sp>
    </p:spTree>
    <p:extLst>
      <p:ext uri="{BB962C8B-B14F-4D97-AF65-F5344CB8AC3E}">
        <p14:creationId xmlns:p14="http://schemas.microsoft.com/office/powerpoint/2010/main" val="4114172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F132-6DF6-4CA0-B333-B03D94DE9F9E}"/>
              </a:ext>
            </a:extLst>
          </p:cNvPr>
          <p:cNvSpPr>
            <a:spLocks noGrp="1"/>
          </p:cNvSpPr>
          <p:nvPr>
            <p:ph type="title"/>
          </p:nvPr>
        </p:nvSpPr>
        <p:spPr>
          <a:xfrm>
            <a:off x="0" y="0"/>
            <a:ext cx="9879291" cy="844197"/>
          </a:xfrm>
          <a:solidFill>
            <a:srgbClr val="002060"/>
          </a:solidFill>
        </p:spPr>
        <p:txBody>
          <a:bodyPr/>
          <a:lstStyle/>
          <a:p>
            <a:r>
              <a:rPr lang="en-IN" b="1" dirty="0">
                <a:ln>
                  <a:solidFill>
                    <a:schemeClr val="bg1"/>
                  </a:solidFill>
                </a:ln>
                <a:solidFill>
                  <a:schemeClr val="bg1"/>
                </a:solidFill>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E6CDD646-3FD1-42E3-B283-E0E745697FFC}"/>
              </a:ext>
            </a:extLst>
          </p:cNvPr>
          <p:cNvSpPr>
            <a:spLocks noGrp="1"/>
          </p:cNvSpPr>
          <p:nvPr>
            <p:ph idx="1"/>
          </p:nvPr>
        </p:nvSpPr>
        <p:spPr>
          <a:xfrm>
            <a:off x="277910" y="1134575"/>
            <a:ext cx="11265816" cy="5266225"/>
          </a:xfrm>
        </p:spPr>
        <p:txBody>
          <a:bodyPr>
            <a:noAutofit/>
          </a:bodyPr>
          <a:lstStyle/>
          <a:p>
            <a:pPr lvl="0"/>
            <a:r>
              <a:rPr lang="en-US" sz="1600" dirty="0">
                <a:latin typeface="Times New Roman" panose="02020603050405020304" pitchFamily="18" charset="0"/>
                <a:cs typeface="Times New Roman" panose="02020603050405020304" pitchFamily="18" charset="0"/>
              </a:rPr>
              <a:t>Abstract</a:t>
            </a:r>
          </a:p>
          <a:p>
            <a:pPr lvl="0"/>
            <a:r>
              <a:rPr lang="en-US" sz="1600" dirty="0">
                <a:latin typeface="Times New Roman" panose="02020603050405020304" pitchFamily="18" charset="0"/>
                <a:cs typeface="Times New Roman" panose="02020603050405020304" pitchFamily="18" charset="0"/>
              </a:rPr>
              <a:t>Objectives</a:t>
            </a:r>
          </a:p>
          <a:p>
            <a:pPr lvl="0"/>
            <a:r>
              <a:rPr lang="en-US" sz="1600" dirty="0">
                <a:latin typeface="Times New Roman" panose="02020603050405020304" pitchFamily="18" charset="0"/>
                <a:cs typeface="Times New Roman" panose="02020603050405020304" pitchFamily="18" charset="0"/>
              </a:rPr>
              <a:t>Introduction</a:t>
            </a:r>
          </a:p>
          <a:p>
            <a:pPr lvl="0"/>
            <a:r>
              <a:rPr lang="en-US" sz="1600" dirty="0">
                <a:latin typeface="Times New Roman" panose="02020603050405020304" pitchFamily="18" charset="0"/>
                <a:cs typeface="Times New Roman" panose="02020603050405020304" pitchFamily="18" charset="0"/>
              </a:rPr>
              <a:t>Problem Statement</a:t>
            </a:r>
          </a:p>
          <a:p>
            <a:pPr lvl="0"/>
            <a:r>
              <a:rPr lang="en-US" sz="1600" dirty="0">
                <a:latin typeface="Times New Roman" panose="02020603050405020304" pitchFamily="18" charset="0"/>
                <a:cs typeface="Times New Roman" panose="02020603050405020304" pitchFamily="18" charset="0"/>
              </a:rPr>
              <a:t>Scope of the Project</a:t>
            </a:r>
          </a:p>
          <a:p>
            <a:r>
              <a:rPr lang="en-US" sz="1600" dirty="0">
                <a:latin typeface="Times New Roman" panose="02020603050405020304" pitchFamily="18" charset="0"/>
                <a:cs typeface="Times New Roman" panose="02020603050405020304" pitchFamily="18" charset="0"/>
              </a:rPr>
              <a:t>Existing System</a:t>
            </a:r>
          </a:p>
          <a:p>
            <a:pPr lvl="0"/>
            <a:r>
              <a:rPr lang="en-US" sz="1600" dirty="0">
                <a:latin typeface="Times New Roman" panose="02020603050405020304" pitchFamily="18" charset="0"/>
                <a:cs typeface="Times New Roman" panose="02020603050405020304" pitchFamily="18" charset="0"/>
              </a:rPr>
              <a:t>Proposed System</a:t>
            </a:r>
          </a:p>
          <a:p>
            <a:pPr lvl="0"/>
            <a:r>
              <a:rPr lang="en-US" sz="1600" dirty="0">
                <a:latin typeface="Times New Roman" panose="02020603050405020304" pitchFamily="18" charset="0"/>
                <a:cs typeface="Times New Roman" panose="02020603050405020304" pitchFamily="18" charset="0"/>
              </a:rPr>
              <a:t>Literature Survey</a:t>
            </a:r>
          </a:p>
          <a:p>
            <a:pPr lvl="0"/>
            <a:r>
              <a:rPr lang="en-US" sz="1600" dirty="0">
                <a:latin typeface="Times New Roman" panose="02020603050405020304" pitchFamily="18" charset="0"/>
                <a:cs typeface="Times New Roman" panose="02020603050405020304" pitchFamily="18" charset="0"/>
              </a:rPr>
              <a:t>Project Schedules/Gantt Chart</a:t>
            </a:r>
          </a:p>
          <a:p>
            <a:r>
              <a:rPr lang="en-US" sz="1600" dirty="0">
                <a:latin typeface="Times New Roman" panose="02020603050405020304" pitchFamily="18" charset="0"/>
                <a:cs typeface="Times New Roman" panose="02020603050405020304" pitchFamily="18" charset="0"/>
              </a:rPr>
              <a:t>Requirements Specification </a:t>
            </a:r>
          </a:p>
          <a:p>
            <a:pPr lvl="0"/>
            <a:r>
              <a:rPr lang="en-US" sz="1600" dirty="0">
                <a:latin typeface="Times New Roman" panose="02020603050405020304" pitchFamily="18" charset="0"/>
                <a:cs typeface="Times New Roman" panose="02020603050405020304" pitchFamily="18" charset="0"/>
              </a:rPr>
              <a:t>Methodology</a:t>
            </a:r>
          </a:p>
          <a:p>
            <a:r>
              <a:rPr lang="en-US" sz="1600" dirty="0">
                <a:latin typeface="Times New Roman" panose="02020603050405020304" pitchFamily="18" charset="0"/>
                <a:cs typeface="Times New Roman" panose="02020603050405020304" pitchFamily="18" charset="0"/>
              </a:rPr>
              <a:t>Expected Results</a:t>
            </a:r>
          </a:p>
          <a:p>
            <a:r>
              <a:rPr lang="en-US" sz="1600" dirty="0">
                <a:latin typeface="Times New Roman" panose="02020603050405020304" pitchFamily="18" charset="0"/>
                <a:cs typeface="Times New Roman" panose="02020603050405020304" pitchFamily="18" charset="0"/>
              </a:rPr>
              <a:t>Query Handling</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Conclusion</a:t>
            </a:r>
          </a:p>
          <a:p>
            <a:r>
              <a:rPr lang="en-IN" sz="1600" dirty="0">
                <a:latin typeface="Times New Roman" panose="02020603050405020304" pitchFamily="18" charset="0"/>
                <a:cs typeface="Times New Roman" panose="02020603050405020304" pitchFamily="18" charset="0"/>
              </a:rPr>
              <a:t>References</a:t>
            </a:r>
          </a:p>
        </p:txBody>
      </p:sp>
      <p:sp>
        <p:nvSpPr>
          <p:cNvPr id="6" name="Slide Number Placeholder 5">
            <a:extLst>
              <a:ext uri="{FF2B5EF4-FFF2-40B4-BE49-F238E27FC236}">
                <a16:creationId xmlns:a16="http://schemas.microsoft.com/office/drawing/2014/main" id="{72DA7704-6969-E4F4-15B6-513F4CE85DFA}"/>
              </a:ext>
            </a:extLst>
          </p:cNvPr>
          <p:cNvSpPr>
            <a:spLocks noGrp="1"/>
          </p:cNvSpPr>
          <p:nvPr>
            <p:ph type="sldNum" sz="quarter" idx="12"/>
          </p:nvPr>
        </p:nvSpPr>
        <p:spPr>
          <a:xfrm>
            <a:off x="10296817" y="6465166"/>
            <a:ext cx="1874982" cy="365125"/>
          </a:xfrm>
        </p:spPr>
        <p:txBody>
          <a:bodyPr/>
          <a:lstStyle/>
          <a:p>
            <a:fld id="{249020A1-FA28-4834-83A8-C0CE35CB1668}" type="slidenum">
              <a:rPr lang="en-IN" sz="1800" b="1" smtClean="0">
                <a:solidFill>
                  <a:schemeClr val="bg2"/>
                </a:solidFill>
                <a:latin typeface="Times New Roman" panose="02020603050405020304" pitchFamily="18" charset="0"/>
                <a:cs typeface="Times New Roman" panose="02020603050405020304" pitchFamily="18" charset="0"/>
              </a:rPr>
              <a:pPr/>
              <a:t>2</a:t>
            </a:fld>
            <a:endParaRPr lang="en-IN" sz="1800" b="1" dirty="0">
              <a:solidFill>
                <a:schemeClr val="bg2"/>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2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42463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47AA-6094-58BB-1735-8627A7C4E07D}"/>
              </a:ext>
            </a:extLst>
          </p:cNvPr>
          <p:cNvSpPr>
            <a:spLocks noGrp="1"/>
          </p:cNvSpPr>
          <p:nvPr>
            <p:ph type="title"/>
          </p:nvPr>
        </p:nvSpPr>
        <p:spPr>
          <a:xfrm>
            <a:off x="0" y="0"/>
            <a:ext cx="10515600" cy="835602"/>
          </a:xfrm>
          <a:solidFill>
            <a:srgbClr val="002060"/>
          </a:solidFill>
        </p:spPr>
        <p:txBody>
          <a:bodyPr>
            <a:normAutofit/>
          </a:bodyPr>
          <a:lstStyle/>
          <a:p>
            <a:r>
              <a:rPr lang="en-IN" b="1" dirty="0">
                <a:solidFill>
                  <a:schemeClr val="bg2"/>
                </a:solidFill>
                <a:latin typeface="Times New Roman" panose="02020603050405020304" pitchFamily="18" charset="0"/>
                <a:cs typeface="Times New Roman" panose="02020603050405020304" pitchFamily="18" charset="0"/>
              </a:rPr>
              <a:t>  Abstract</a:t>
            </a:r>
          </a:p>
        </p:txBody>
      </p:sp>
      <p:sp>
        <p:nvSpPr>
          <p:cNvPr id="3" name="Content Placeholder 2">
            <a:extLst>
              <a:ext uri="{FF2B5EF4-FFF2-40B4-BE49-F238E27FC236}">
                <a16:creationId xmlns:a16="http://schemas.microsoft.com/office/drawing/2014/main" id="{691CEE11-6F9C-DA91-2A8A-08A9536619B1}"/>
              </a:ext>
            </a:extLst>
          </p:cNvPr>
          <p:cNvSpPr>
            <a:spLocks noGrp="1"/>
          </p:cNvSpPr>
          <p:nvPr>
            <p:ph idx="1"/>
          </p:nvPr>
        </p:nvSpPr>
        <p:spPr>
          <a:xfrm>
            <a:off x="589722" y="1119947"/>
            <a:ext cx="10515600" cy="4351338"/>
          </a:xfrm>
        </p:spPr>
        <p:txBody>
          <a:bodyPr/>
          <a:lstStyle/>
          <a:p>
            <a:pPr>
              <a:buNone/>
            </a:pPr>
            <a:endParaRPr lang="en-US" b="1" dirty="0"/>
          </a:p>
          <a:p>
            <a:pPr marL="0" indent="0">
              <a:lnSpc>
                <a:spcPct val="150000"/>
              </a:lnSpc>
              <a:buNone/>
            </a:pPr>
            <a:r>
              <a:rPr lang="en-US" sz="2000" dirty="0">
                <a:latin typeface="Times New Roman" panose="02020603050405020304" pitchFamily="18" charset="0"/>
                <a:cs typeface="Times New Roman" panose="02020603050405020304" pitchFamily="18" charset="0"/>
              </a:rPr>
              <a:t>This project presents a wearable smart glove capable of translating sign language gestures into text/speech and enabling gesture-based home automation. Using </a:t>
            </a:r>
            <a:r>
              <a:rPr lang="en-US" altLang="en-US" sz="2000" dirty="0">
                <a:latin typeface="Times New Roman" panose="02020603050405020304" pitchFamily="18" charset="0"/>
                <a:cs typeface="Times New Roman" panose="02020603050405020304" pitchFamily="18" charset="0"/>
              </a:rPr>
              <a:t>ADXL345 Accelerometer </a:t>
            </a:r>
            <a:r>
              <a:rPr lang="en-US" sz="2000" dirty="0">
                <a:latin typeface="Times New Roman" panose="02020603050405020304" pitchFamily="18" charset="0"/>
                <a:cs typeface="Times New Roman" panose="02020603050405020304" pitchFamily="18" charset="0"/>
              </a:rPr>
              <a:t>, an IMU, and a microcontroller with Bluetooth, the glove enhances communication accessibility and provides a novel human–machine interaction interface.</a:t>
            </a:r>
            <a:endParaRPr lang="en-IN" dirty="0">
              <a:latin typeface="Times New Roman" panose="02020603050405020304" pitchFamily="18" charset="0"/>
              <a:cs typeface="Times New Roman" panose="02020603050405020304" pitchFamily="18" charset="0"/>
            </a:endParaRPr>
          </a:p>
        </p:txBody>
      </p:sp>
      <p:sp>
        <p:nvSpPr>
          <p:cNvPr id="14" name="Slide Number Placeholder 13">
            <a:extLst>
              <a:ext uri="{FF2B5EF4-FFF2-40B4-BE49-F238E27FC236}">
                <a16:creationId xmlns:a16="http://schemas.microsoft.com/office/drawing/2014/main" id="{AC1A09B6-5399-B451-9F51-0993EBCC2D8D}"/>
              </a:ext>
            </a:extLst>
          </p:cNvPr>
          <p:cNvSpPr>
            <a:spLocks noGrp="1"/>
          </p:cNvSpPr>
          <p:nvPr>
            <p:ph type="sldNum" sz="quarter" idx="12"/>
          </p:nvPr>
        </p:nvSpPr>
        <p:spPr>
          <a:xfrm>
            <a:off x="9827491" y="6492875"/>
            <a:ext cx="2152074"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3</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3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628504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289D4-D5C7-822E-9A3D-236812505E57}"/>
              </a:ext>
            </a:extLst>
          </p:cNvPr>
          <p:cNvSpPr>
            <a:spLocks noGrp="1"/>
          </p:cNvSpPr>
          <p:nvPr>
            <p:ph type="title"/>
          </p:nvPr>
        </p:nvSpPr>
        <p:spPr>
          <a:xfrm>
            <a:off x="0" y="0"/>
            <a:ext cx="10515600" cy="937202"/>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Objectives</a:t>
            </a:r>
          </a:p>
        </p:txBody>
      </p:sp>
      <p:sp>
        <p:nvSpPr>
          <p:cNvPr id="7" name="Slide Number Placeholder 6">
            <a:extLst>
              <a:ext uri="{FF2B5EF4-FFF2-40B4-BE49-F238E27FC236}">
                <a16:creationId xmlns:a16="http://schemas.microsoft.com/office/drawing/2014/main" id="{578AD5D2-C3BA-63A4-EC79-63966576E4E5}"/>
              </a:ext>
            </a:extLst>
          </p:cNvPr>
          <p:cNvSpPr>
            <a:spLocks noGrp="1"/>
          </p:cNvSpPr>
          <p:nvPr>
            <p:ph type="sldNum" sz="quarter" idx="12"/>
          </p:nvPr>
        </p:nvSpPr>
        <p:spPr>
          <a:xfrm>
            <a:off x="9855200" y="6492875"/>
            <a:ext cx="2189018"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4</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80D19B7-202A-9F47-A0F5-8CA534D88A58}"/>
              </a:ext>
            </a:extLst>
          </p:cNvPr>
          <p:cNvSpPr>
            <a:spLocks noGrp="1" noChangeArrowheads="1"/>
          </p:cNvSpPr>
          <p:nvPr>
            <p:ph idx="1"/>
          </p:nvPr>
        </p:nvSpPr>
        <p:spPr bwMode="auto">
          <a:xfrm>
            <a:off x="773545" y="1151454"/>
            <a:ext cx="827989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 </a:t>
            </a:r>
            <a:r>
              <a:rPr lang="en-US" altLang="en-US" sz="2000" dirty="0">
                <a:latin typeface="Times New Roman" panose="02020603050405020304" pitchFamily="18" charset="0"/>
                <a:cs typeface="Times New Roman" panose="02020603050405020304" pitchFamily="18" charset="0"/>
              </a:rPr>
              <a:t>To design a glove that translates sign language gestures into text and speech.</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To implement gesture recognition for home automation. </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To ensure real-time processing with high accuracy. </a:t>
            </a:r>
            <a:br>
              <a:rPr lang="en-US" altLang="en-US" sz="2000" dirty="0">
                <a:latin typeface="Times New Roman" panose="02020603050405020304" pitchFamily="18" charset="0"/>
                <a:cs typeface="Times New Roman" panose="02020603050405020304" pitchFamily="18" charset="0"/>
              </a:rPr>
            </a:b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To create a low-cost, portable, and user-friendly wearable system.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4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4234022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280B-B08D-4054-35AA-749D679E52FC}"/>
              </a:ext>
            </a:extLst>
          </p:cNvPr>
          <p:cNvSpPr>
            <a:spLocks noGrp="1"/>
          </p:cNvSpPr>
          <p:nvPr>
            <p:ph type="title"/>
          </p:nvPr>
        </p:nvSpPr>
        <p:spPr>
          <a:xfrm>
            <a:off x="0" y="0"/>
            <a:ext cx="10515600" cy="826366"/>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46524F1-D286-0BFF-E12D-055717B0C0C1}"/>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Communication barriers exist for individuals with hearing and speech impairments. Sign language is an effective mode of communication but not universally understood. A smart glove that translates signs into text/speech can bridge this gap. Moreover, gesture recognition can also provide intuitive human–machine interaction, such as controlling home automation without physical buttons.</a:t>
            </a:r>
            <a:endParaRPr lang="en-IN" sz="2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B9052F91-BEF0-155D-25DC-C9EBB33A3202}"/>
              </a:ext>
            </a:extLst>
          </p:cNvPr>
          <p:cNvSpPr>
            <a:spLocks noGrp="1"/>
          </p:cNvSpPr>
          <p:nvPr>
            <p:ph type="sldNum" sz="quarter" idx="12"/>
          </p:nvPr>
        </p:nvSpPr>
        <p:spPr>
          <a:xfrm>
            <a:off x="9425709" y="6492875"/>
            <a:ext cx="2655455"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5</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5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769966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DF8C-2752-40E8-E354-1B5C5EA7975D}"/>
              </a:ext>
            </a:extLst>
          </p:cNvPr>
          <p:cNvSpPr>
            <a:spLocks noGrp="1"/>
          </p:cNvSpPr>
          <p:nvPr>
            <p:ph type="title"/>
          </p:nvPr>
        </p:nvSpPr>
        <p:spPr>
          <a:xfrm>
            <a:off x="0" y="0"/>
            <a:ext cx="10515600" cy="872548"/>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46B9086-2096-FBCF-9DE3-8BF78B9A6B41}"/>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Hearing- and speech-impaired individuals face challenges in communicating with non-sign language users. Similarly, conventional home automation methods require manual interaction, which may not be convenient. There is a need for a low-cost, portable device that can recognize hand gestures and translate them into meaningful outputs.</a:t>
            </a:r>
          </a:p>
          <a:p>
            <a:endParaRPr lang="en-IN" dirty="0"/>
          </a:p>
        </p:txBody>
      </p:sp>
      <p:sp>
        <p:nvSpPr>
          <p:cNvPr id="7" name="Slide Number Placeholder 6">
            <a:extLst>
              <a:ext uri="{FF2B5EF4-FFF2-40B4-BE49-F238E27FC236}">
                <a16:creationId xmlns:a16="http://schemas.microsoft.com/office/drawing/2014/main" id="{D57D14D3-1AE2-544E-EAE5-DCC24FF454C9}"/>
              </a:ext>
            </a:extLst>
          </p:cNvPr>
          <p:cNvSpPr>
            <a:spLocks noGrp="1"/>
          </p:cNvSpPr>
          <p:nvPr>
            <p:ph type="sldNum" sz="quarter" idx="12"/>
          </p:nvPr>
        </p:nvSpPr>
        <p:spPr>
          <a:xfrm>
            <a:off x="9294091" y="6492875"/>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6</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6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2687702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104E-C8D4-F16D-BD3B-E66FD29BBD2E}"/>
              </a:ext>
            </a:extLst>
          </p:cNvPr>
          <p:cNvSpPr>
            <a:spLocks noGrp="1"/>
          </p:cNvSpPr>
          <p:nvPr>
            <p:ph type="title"/>
          </p:nvPr>
        </p:nvSpPr>
        <p:spPr>
          <a:xfrm>
            <a:off x="0" y="0"/>
            <a:ext cx="10515600" cy="863311"/>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Scope of the project</a:t>
            </a:r>
          </a:p>
        </p:txBody>
      </p:sp>
      <p:sp>
        <p:nvSpPr>
          <p:cNvPr id="7" name="Slide Number Placeholder 6">
            <a:extLst>
              <a:ext uri="{FF2B5EF4-FFF2-40B4-BE49-F238E27FC236}">
                <a16:creationId xmlns:a16="http://schemas.microsoft.com/office/drawing/2014/main" id="{AAFF2FDE-2FCD-3BA9-C0BF-24CE265C80FF}"/>
              </a:ext>
            </a:extLst>
          </p:cNvPr>
          <p:cNvSpPr>
            <a:spLocks noGrp="1"/>
          </p:cNvSpPr>
          <p:nvPr>
            <p:ph type="sldNum" sz="quarter" idx="12"/>
          </p:nvPr>
        </p:nvSpPr>
        <p:spPr>
          <a:xfrm>
            <a:off x="9331036" y="6574054"/>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7</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3F56BF0-0624-C5C0-A936-E483A6816BD3}"/>
              </a:ext>
            </a:extLst>
          </p:cNvPr>
          <p:cNvSpPr>
            <a:spLocks noGrp="1" noChangeArrowheads="1"/>
          </p:cNvSpPr>
          <p:nvPr>
            <p:ph idx="1"/>
          </p:nvPr>
        </p:nvSpPr>
        <p:spPr bwMode="auto">
          <a:xfrm>
            <a:off x="378692" y="1241510"/>
            <a:ext cx="10670308" cy="2620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Translation of basic sign language gestures into text/speech.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Gesture-based </a:t>
            </a:r>
            <a:r>
              <a:rPr lang="en-US" altLang="en-US" sz="2000" dirty="0">
                <a:latin typeface="Times New Roman" panose="02020603050405020304" pitchFamily="18" charset="0"/>
                <a:cs typeface="Times New Roman" panose="02020603050405020304" pitchFamily="18" charset="0"/>
              </a:rPr>
              <a:t>home </a:t>
            </a:r>
            <a:r>
              <a:rPr lang="en-US" altLang="en-US" sz="2000" dirty="0" err="1">
                <a:latin typeface="Times New Roman" panose="02020603050405020304" pitchFamily="18" charset="0"/>
                <a:cs typeface="Times New Roman" panose="02020603050405020304" pitchFamily="18" charset="0"/>
              </a:rPr>
              <a:t>authomation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ON, OFF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processing using sensors and microcontroller.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Optional enhancements: integration with smartphones, machine learning for dynamic gestures, multilingual support. </a:t>
            </a: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7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92621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1A32-81A6-BE15-0329-6CDFE850087A}"/>
              </a:ext>
            </a:extLst>
          </p:cNvPr>
          <p:cNvSpPr>
            <a:spLocks noGrp="1"/>
          </p:cNvSpPr>
          <p:nvPr>
            <p:ph type="title"/>
          </p:nvPr>
        </p:nvSpPr>
        <p:spPr>
          <a:xfrm>
            <a:off x="0" y="0"/>
            <a:ext cx="10515600" cy="854075"/>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2295202F-21FF-E03D-3909-1BB4C54B19D3}"/>
              </a:ext>
            </a:extLst>
          </p:cNvPr>
          <p:cNvSpPr>
            <a:spLocks noGrp="1"/>
          </p:cNvSpPr>
          <p:nvPr>
            <p:ph idx="1"/>
          </p:nvPr>
        </p:nvSpPr>
        <p:spPr/>
        <p:txBody>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Current systems use camera-based sign recognition or static gesture detection.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They suffer from limitations such as high computational cost, poor performance in low-light,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or lack of portability.</a:t>
            </a:r>
          </a:p>
          <a:p>
            <a:pPr marL="0" indent="0">
              <a:buNone/>
            </a:pPr>
            <a:endParaRPr lang="en-IN" dirty="0"/>
          </a:p>
        </p:txBody>
      </p:sp>
      <p:sp>
        <p:nvSpPr>
          <p:cNvPr id="7" name="Slide Number Placeholder 6">
            <a:extLst>
              <a:ext uri="{FF2B5EF4-FFF2-40B4-BE49-F238E27FC236}">
                <a16:creationId xmlns:a16="http://schemas.microsoft.com/office/drawing/2014/main" id="{267B1EFB-9F03-8963-0045-A977554CF9C0}"/>
              </a:ext>
            </a:extLst>
          </p:cNvPr>
          <p:cNvSpPr>
            <a:spLocks noGrp="1"/>
          </p:cNvSpPr>
          <p:nvPr>
            <p:ph type="sldNum" sz="quarter" idx="12"/>
          </p:nvPr>
        </p:nvSpPr>
        <p:spPr>
          <a:xfrm>
            <a:off x="9282545" y="6492875"/>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8</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8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5217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F49E-6C2A-C95F-9BB6-F115EC82E3DB}"/>
              </a:ext>
            </a:extLst>
          </p:cNvPr>
          <p:cNvSpPr>
            <a:spLocks noGrp="1"/>
          </p:cNvSpPr>
          <p:nvPr>
            <p:ph type="title"/>
          </p:nvPr>
        </p:nvSpPr>
        <p:spPr>
          <a:xfrm>
            <a:off x="0" y="0"/>
            <a:ext cx="10515600" cy="831273"/>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ED01BDF8-B8AF-5EC2-1F4B-706F3BC101D7}"/>
              </a:ext>
            </a:extLst>
          </p:cNvPr>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proposed system introduces a smart glove-based solution that helps differently-abled individuals communicate and control home appliances through simple hand gestures. The glove uses an ADXL345 accelerometer to detect hand movements and sends the data to an Arduino for processing. Each gesture is mapped to a specific sign language message or home automation command. The interpreted message is displayed on an LCD screen and played as audio using a </a:t>
            </a:r>
            <a:r>
              <a:rPr lang="en-US" sz="2000" dirty="0" err="1">
                <a:latin typeface="Times New Roman" panose="02020603050405020304" pitchFamily="18" charset="0"/>
                <a:cs typeface="Times New Roman" panose="02020603050405020304" pitchFamily="18" charset="0"/>
              </a:rPr>
              <a:t>DFPlayer</a:t>
            </a:r>
            <a:r>
              <a:rPr lang="en-US" sz="2000" dirty="0">
                <a:latin typeface="Times New Roman" panose="02020603050405020304" pitchFamily="18" charset="0"/>
                <a:cs typeface="Times New Roman" panose="02020603050405020304" pitchFamily="18" charset="0"/>
              </a:rPr>
              <a:t> Mini module. For appliance control, the system operates relays to switch lights and fans ON or OFF. This low-cost, portable system enhances independence and supports daily living for users with communication or mobility challenges.</a:t>
            </a:r>
            <a:endParaRPr lang="en-IN" sz="2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3DDF640-A1FD-5EA9-C830-DB749D74EB85}"/>
              </a:ext>
            </a:extLst>
          </p:cNvPr>
          <p:cNvSpPr>
            <a:spLocks noGrp="1"/>
          </p:cNvSpPr>
          <p:nvPr>
            <p:ph type="sldNum" sz="quarter" idx="12"/>
          </p:nvPr>
        </p:nvSpPr>
        <p:spPr>
          <a:xfrm>
            <a:off x="9284854" y="6486144"/>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9</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9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279671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63E0-E7F8-D278-2ADD-1F6BFC193C59}"/>
              </a:ext>
            </a:extLst>
          </p:cNvPr>
          <p:cNvSpPr>
            <a:spLocks noGrp="1"/>
          </p:cNvSpPr>
          <p:nvPr>
            <p:ph type="title"/>
          </p:nvPr>
        </p:nvSpPr>
        <p:spPr>
          <a:xfrm>
            <a:off x="0" y="0"/>
            <a:ext cx="10515600" cy="849745"/>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Literature Survey</a:t>
            </a:r>
          </a:p>
        </p:txBody>
      </p:sp>
      <p:sp>
        <p:nvSpPr>
          <p:cNvPr id="7" name="Slide Number Placeholder 6">
            <a:extLst>
              <a:ext uri="{FF2B5EF4-FFF2-40B4-BE49-F238E27FC236}">
                <a16:creationId xmlns:a16="http://schemas.microsoft.com/office/drawing/2014/main" id="{40297CDE-E9C2-FAA0-FD67-531FB4CA05DF}"/>
              </a:ext>
            </a:extLst>
          </p:cNvPr>
          <p:cNvSpPr>
            <a:spLocks noGrp="1"/>
          </p:cNvSpPr>
          <p:nvPr>
            <p:ph type="sldNum" sz="quarter" idx="12"/>
          </p:nvPr>
        </p:nvSpPr>
        <p:spPr>
          <a:xfrm>
            <a:off x="9312564" y="6492875"/>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10</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EA86298-CA76-CAF2-0E6E-86BCA5E13482}"/>
              </a:ext>
            </a:extLst>
          </p:cNvPr>
          <p:cNvSpPr>
            <a:spLocks noGrp="1" noChangeArrowheads="1"/>
          </p:cNvSpPr>
          <p:nvPr>
            <p:ph idx="1"/>
          </p:nvPr>
        </p:nvSpPr>
        <p:spPr bwMode="auto">
          <a:xfrm>
            <a:off x="652259" y="762300"/>
            <a:ext cx="10055896" cy="3082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 studies have developed sign language recognition using computer vision, but accuracy depends on environmental conditions.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Sensor-based gloves (e.g.,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CyberGlove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 but are expensive.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Recent works integrate Arduino and flex sensors for static gesture recognition.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Few projects combine sign language translation with gesture-based device control, making this system unique. </a:t>
            </a: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10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249774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951E-2E8A-6545-538B-AC2D9E32C0A0}"/>
              </a:ext>
            </a:extLst>
          </p:cNvPr>
          <p:cNvSpPr>
            <a:spLocks noGrp="1"/>
          </p:cNvSpPr>
          <p:nvPr>
            <p:ph type="title"/>
          </p:nvPr>
        </p:nvSpPr>
        <p:spPr>
          <a:xfrm>
            <a:off x="0" y="0"/>
            <a:ext cx="10515600" cy="868218"/>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Project Schedules / Gantt Chart</a:t>
            </a:r>
          </a:p>
        </p:txBody>
      </p:sp>
      <p:sp>
        <p:nvSpPr>
          <p:cNvPr id="3" name="Content Placeholder 2">
            <a:extLst>
              <a:ext uri="{FF2B5EF4-FFF2-40B4-BE49-F238E27FC236}">
                <a16:creationId xmlns:a16="http://schemas.microsoft.com/office/drawing/2014/main" id="{2FBEB3F0-C40A-E41C-EBEF-7BFA86CF8A2F}"/>
              </a:ext>
            </a:extLst>
          </p:cNvPr>
          <p:cNvSpPr>
            <a:spLocks noGrp="1"/>
          </p:cNvSpPr>
          <p:nvPr>
            <p:ph idx="1"/>
          </p:nvPr>
        </p:nvSpPr>
        <p:spPr/>
        <p:txBody>
          <a:bodyPr/>
          <a:lstStyle/>
          <a:p>
            <a:pPr marL="0" indent="0">
              <a:buNone/>
            </a:pPr>
            <a:r>
              <a:rPr lang="en-US" sz="2000" dirty="0">
                <a:latin typeface="Times New Roman" panose="02020603050405020304" pitchFamily="18" charset="0"/>
                <a:cs typeface="Times New Roman" panose="02020603050405020304" pitchFamily="18" charset="0"/>
              </a:rPr>
              <a:t>  - Phase 1:</a:t>
            </a:r>
            <a:r>
              <a:rPr lang="en-IN" sz="2000" dirty="0">
                <a:latin typeface="Times New Roman" panose="02020603050405020304" pitchFamily="18" charset="0"/>
                <a:cs typeface="Times New Roman" panose="02020603050405020304" pitchFamily="18" charset="0"/>
              </a:rPr>
              <a:t>Requirement gathering.</a:t>
            </a:r>
          </a:p>
          <a:p>
            <a:pPr marL="0" indent="0">
              <a:buNone/>
            </a:pP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Phase 2: Hardware procurement.</a:t>
            </a:r>
          </a:p>
          <a:p>
            <a:pPr marL="0" indent="0">
              <a:buNone/>
            </a:pPr>
            <a:r>
              <a:rPr lang="en-US" sz="2000" dirty="0">
                <a:latin typeface="Times New Roman" panose="02020603050405020304" pitchFamily="18" charset="0"/>
                <a:cs typeface="Times New Roman" panose="02020603050405020304" pitchFamily="18" charset="0"/>
              </a:rPr>
              <a:t>  - Phase 3: Testing &amp; Feedback.</a:t>
            </a:r>
          </a:p>
          <a:p>
            <a:pPr marL="0" indent="0">
              <a:buNone/>
            </a:pPr>
            <a:r>
              <a:rPr lang="en-US" sz="2000" dirty="0">
                <a:latin typeface="Times New Roman" panose="02020603050405020304" pitchFamily="18" charset="0"/>
                <a:cs typeface="Times New Roman" panose="02020603050405020304" pitchFamily="18" charset="0"/>
              </a:rPr>
              <a:t>  - Phase 4: Finalization &amp; Deployment.</a:t>
            </a:r>
          </a:p>
          <a:p>
            <a:pPr marL="0" indent="0">
              <a:buNone/>
            </a:pPr>
            <a:r>
              <a:rPr lang="en-US" sz="2000" dirty="0">
                <a:latin typeface="Times New Roman" panose="02020603050405020304" pitchFamily="18" charset="0"/>
                <a:cs typeface="Times New Roman" panose="02020603050405020304" pitchFamily="18" charset="0"/>
              </a:rPr>
              <a:t>  - Phase 5: Documentation.</a:t>
            </a:r>
          </a:p>
          <a:p>
            <a:endParaRPr lang="en-IN" dirty="0"/>
          </a:p>
        </p:txBody>
      </p:sp>
      <p:sp>
        <p:nvSpPr>
          <p:cNvPr id="7" name="Slide Number Placeholder 6">
            <a:extLst>
              <a:ext uri="{FF2B5EF4-FFF2-40B4-BE49-F238E27FC236}">
                <a16:creationId xmlns:a16="http://schemas.microsoft.com/office/drawing/2014/main" id="{AC9BDB71-5CB2-367A-F543-0C4E9BDC7D3B}"/>
              </a:ext>
            </a:extLst>
          </p:cNvPr>
          <p:cNvSpPr>
            <a:spLocks noGrp="1"/>
          </p:cNvSpPr>
          <p:nvPr>
            <p:ph type="sldNum" sz="quarter" idx="12"/>
          </p:nvPr>
        </p:nvSpPr>
        <p:spPr>
          <a:xfrm>
            <a:off x="9340272" y="6584130"/>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11</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11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639700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DD30-089E-B3D0-0C61-7101FA95CD1A}"/>
              </a:ext>
            </a:extLst>
          </p:cNvPr>
          <p:cNvSpPr>
            <a:spLocks noGrp="1"/>
          </p:cNvSpPr>
          <p:nvPr>
            <p:ph type="title"/>
          </p:nvPr>
        </p:nvSpPr>
        <p:spPr>
          <a:xfrm>
            <a:off x="0" y="0"/>
            <a:ext cx="10515600" cy="872548"/>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Requirements Specification</a:t>
            </a:r>
          </a:p>
        </p:txBody>
      </p:sp>
      <p:sp>
        <p:nvSpPr>
          <p:cNvPr id="7" name="Slide Number Placeholder 6">
            <a:extLst>
              <a:ext uri="{FF2B5EF4-FFF2-40B4-BE49-F238E27FC236}">
                <a16:creationId xmlns:a16="http://schemas.microsoft.com/office/drawing/2014/main" id="{8F010F64-3454-29C5-6FAB-40BF2464DE90}"/>
              </a:ext>
            </a:extLst>
          </p:cNvPr>
          <p:cNvSpPr>
            <a:spLocks noGrp="1"/>
          </p:cNvSpPr>
          <p:nvPr>
            <p:ph type="sldNum" sz="quarter" idx="12"/>
          </p:nvPr>
        </p:nvSpPr>
        <p:spPr>
          <a:xfrm>
            <a:off x="9144000" y="6527171"/>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12</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B1D4999-8DA8-315C-8B35-0F3925DDB6DA}"/>
              </a:ext>
            </a:extLst>
          </p:cNvPr>
          <p:cNvSpPr>
            <a:spLocks noGrp="1" noChangeArrowheads="1"/>
          </p:cNvSpPr>
          <p:nvPr>
            <p:ph idx="1"/>
          </p:nvPr>
        </p:nvSpPr>
        <p:spPr bwMode="auto">
          <a:xfrm>
            <a:off x="1059583" y="1860558"/>
            <a:ext cx="8813511"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Components Used:</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Arduino UNO – Main microcontroller.</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ADXL345 Accelerometer – Detects hand gestures by measuring acceleration along X, Y, Z axes.</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Relay Module (2-Channel) – Controls fan and light.</a:t>
            </a:r>
          </a:p>
          <a:p>
            <a:pPr eaLnBrk="0" fontAlgn="base" hangingPunct="0">
              <a:lnSpc>
                <a:spcPct val="150000"/>
              </a:lnSpc>
              <a:spcBef>
                <a:spcPct val="0"/>
              </a:spcBef>
              <a:spcAft>
                <a:spcPct val="0"/>
              </a:spcAft>
            </a:pPr>
            <a:r>
              <a:rPr lang="en-US" altLang="en-US" sz="2000" dirty="0" err="1">
                <a:latin typeface="Times New Roman" panose="02020603050405020304" pitchFamily="18" charset="0"/>
                <a:cs typeface="Times New Roman" panose="02020603050405020304" pitchFamily="18" charset="0"/>
              </a:rPr>
              <a:t>DFPlayer</a:t>
            </a:r>
            <a:r>
              <a:rPr lang="en-US" altLang="en-US" sz="2000" dirty="0">
                <a:latin typeface="Times New Roman" panose="02020603050405020304" pitchFamily="18" charset="0"/>
                <a:cs typeface="Times New Roman" panose="02020603050405020304" pitchFamily="18" charset="0"/>
              </a:rPr>
              <a:t> Mini MP3 Module + Speaker – Provides audio feedback/voice alerts.</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LCD (I2C 16x2) – Displays status messages.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12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3321016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D7091-0811-4A4E-B29C-0931D2267706}"/>
              </a:ext>
            </a:extLst>
          </p:cNvPr>
          <p:cNvSpPr>
            <a:spLocks noGrp="1"/>
          </p:cNvSpPr>
          <p:nvPr>
            <p:ph type="title"/>
          </p:nvPr>
        </p:nvSpPr>
        <p:spPr>
          <a:xfrm>
            <a:off x="0" y="0"/>
            <a:ext cx="10515600" cy="872548"/>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Technology stack</a:t>
            </a:r>
          </a:p>
        </p:txBody>
      </p:sp>
      <p:sp>
        <p:nvSpPr>
          <p:cNvPr id="7" name="Slide Number Placeholder 6">
            <a:extLst>
              <a:ext uri="{FF2B5EF4-FFF2-40B4-BE49-F238E27FC236}">
                <a16:creationId xmlns:a16="http://schemas.microsoft.com/office/drawing/2014/main" id="{6ABBCAA5-FE0F-A8FD-11C7-B9736BF9DD10}"/>
              </a:ext>
            </a:extLst>
          </p:cNvPr>
          <p:cNvSpPr>
            <a:spLocks noGrp="1"/>
          </p:cNvSpPr>
          <p:nvPr>
            <p:ph type="sldNum" sz="quarter" idx="12"/>
          </p:nvPr>
        </p:nvSpPr>
        <p:spPr>
          <a:xfrm>
            <a:off x="9331036" y="6492875"/>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13</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3C12D61-5D6C-E2CF-A53E-99979E157CD1}"/>
              </a:ext>
            </a:extLst>
          </p:cNvPr>
          <p:cNvSpPr>
            <a:spLocks noGrp="1" noChangeArrowheads="1"/>
          </p:cNvSpPr>
          <p:nvPr>
            <p:ph idx="1"/>
          </p:nvPr>
        </p:nvSpPr>
        <p:spPr bwMode="auto">
          <a:xfrm>
            <a:off x="736600" y="1212316"/>
            <a:ext cx="8523487" cy="2622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data acquisition (</a:t>
            </a:r>
            <a:r>
              <a:rPr lang="en-US" altLang="en-US" sz="2000" dirty="0">
                <a:latin typeface="Times New Roman" panose="02020603050405020304" pitchFamily="18" charset="0"/>
                <a:cs typeface="Times New Roman" panose="02020603050405020304" pitchFamily="18" charset="0"/>
              </a:rPr>
              <a:t>ADXL345 Accelerometer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IMU).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Signal preprocessing and calibration.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Mapping gestures to sign language alphabets and </a:t>
            </a:r>
            <a:r>
              <a:rPr lang="en-US" altLang="en-US" sz="2000" dirty="0">
                <a:latin typeface="Times New Roman" panose="02020603050405020304" pitchFamily="18" charset="0"/>
                <a:cs typeface="Times New Roman" panose="02020603050405020304" pitchFamily="18" charset="0"/>
              </a:rPr>
              <a:t>home 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transmission via Bluetooth.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Output generation: text-to-speech/sign display and music player control.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13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274381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B2AD9-5703-7FDC-FF2E-14CE574F15CA}"/>
              </a:ext>
            </a:extLst>
          </p:cNvPr>
          <p:cNvSpPr>
            <a:spLocks noGrp="1"/>
          </p:cNvSpPr>
          <p:nvPr>
            <p:ph type="title"/>
          </p:nvPr>
        </p:nvSpPr>
        <p:spPr>
          <a:xfrm>
            <a:off x="0" y="1"/>
            <a:ext cx="10515600" cy="967364"/>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Methodology</a:t>
            </a:r>
          </a:p>
        </p:txBody>
      </p:sp>
      <p:sp>
        <p:nvSpPr>
          <p:cNvPr id="6" name="Slide Number Placeholder 5">
            <a:extLst>
              <a:ext uri="{FF2B5EF4-FFF2-40B4-BE49-F238E27FC236}">
                <a16:creationId xmlns:a16="http://schemas.microsoft.com/office/drawing/2014/main" id="{9BA772F4-CC3F-9FF6-4D5C-4E07409E2C6A}"/>
              </a:ext>
            </a:extLst>
          </p:cNvPr>
          <p:cNvSpPr>
            <a:spLocks noGrp="1"/>
          </p:cNvSpPr>
          <p:nvPr>
            <p:ph type="sldNum" sz="quarter" idx="12"/>
          </p:nvPr>
        </p:nvSpPr>
        <p:spPr>
          <a:xfrm>
            <a:off x="9321800" y="6486144"/>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14</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14                                      </a:t>
            </a:r>
            <a:endParaRPr lang="en-IN" dirty="0">
              <a:ln>
                <a:solidFill>
                  <a:schemeClr val="bg1"/>
                </a:solidFill>
              </a:ln>
              <a:solidFill>
                <a:schemeClr val="bg1"/>
              </a:solidFill>
            </a:endParaRPr>
          </a:p>
        </p:txBody>
      </p:sp>
      <p:pic>
        <p:nvPicPr>
          <p:cNvPr id="9" name="Content Placeholder 8">
            <a:extLst>
              <a:ext uri="{FF2B5EF4-FFF2-40B4-BE49-F238E27FC236}">
                <a16:creationId xmlns:a16="http://schemas.microsoft.com/office/drawing/2014/main" id="{DA749B9C-1CF1-3DD6-24D1-135FE540B4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8488" y="1417063"/>
            <a:ext cx="6527007" cy="4351338"/>
          </a:xfrm>
        </p:spPr>
      </p:pic>
    </p:spTree>
    <p:extLst>
      <p:ext uri="{BB962C8B-B14F-4D97-AF65-F5344CB8AC3E}">
        <p14:creationId xmlns:p14="http://schemas.microsoft.com/office/powerpoint/2010/main" val="1563319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8E77-39CB-8B5F-6CAF-9B27C894A647}"/>
              </a:ext>
            </a:extLst>
          </p:cNvPr>
          <p:cNvSpPr>
            <a:spLocks noGrp="1"/>
          </p:cNvSpPr>
          <p:nvPr>
            <p:ph type="title"/>
          </p:nvPr>
        </p:nvSpPr>
        <p:spPr>
          <a:xfrm>
            <a:off x="0" y="0"/>
            <a:ext cx="10515600" cy="844839"/>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Expected Results</a:t>
            </a:r>
          </a:p>
        </p:txBody>
      </p:sp>
      <p:sp>
        <p:nvSpPr>
          <p:cNvPr id="7" name="Slide Number Placeholder 6">
            <a:extLst>
              <a:ext uri="{FF2B5EF4-FFF2-40B4-BE49-F238E27FC236}">
                <a16:creationId xmlns:a16="http://schemas.microsoft.com/office/drawing/2014/main" id="{DC9E6931-1BB7-2BD1-7FA5-E74D8C68D723}"/>
              </a:ext>
            </a:extLst>
          </p:cNvPr>
          <p:cNvSpPr>
            <a:spLocks noGrp="1"/>
          </p:cNvSpPr>
          <p:nvPr>
            <p:ph type="sldNum" sz="quarter" idx="12"/>
          </p:nvPr>
        </p:nvSpPr>
        <p:spPr>
          <a:xfrm>
            <a:off x="9356436" y="6574894"/>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15</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B6F8D4E-12D2-CC3B-E2AA-7CCFB0454769}"/>
              </a:ext>
            </a:extLst>
          </p:cNvPr>
          <p:cNvSpPr>
            <a:spLocks noGrp="1" noChangeArrowheads="1"/>
          </p:cNvSpPr>
          <p:nvPr>
            <p:ph idx="1"/>
          </p:nvPr>
        </p:nvSpPr>
        <p:spPr bwMode="auto">
          <a:xfrm>
            <a:off x="498762" y="1495460"/>
            <a:ext cx="9192491" cy="1698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 recognition of predefined sign language gestures.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Smooth control of home automation with intuitive hand movements.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lightweight, portable, and cost-effective wearable system. </a:t>
            </a: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15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582312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C65AB-AE9A-BA2D-BE79-64DAB614A684}"/>
              </a:ext>
            </a:extLst>
          </p:cNvPr>
          <p:cNvSpPr>
            <a:spLocks noGrp="1"/>
          </p:cNvSpPr>
          <p:nvPr>
            <p:ph type="title"/>
          </p:nvPr>
        </p:nvSpPr>
        <p:spPr>
          <a:xfrm>
            <a:off x="0" y="0"/>
            <a:ext cx="10515600" cy="854075"/>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Challenges &amp; Risks</a:t>
            </a:r>
          </a:p>
        </p:txBody>
      </p:sp>
      <p:sp>
        <p:nvSpPr>
          <p:cNvPr id="3" name="Content Placeholder 2">
            <a:extLst>
              <a:ext uri="{FF2B5EF4-FFF2-40B4-BE49-F238E27FC236}">
                <a16:creationId xmlns:a16="http://schemas.microsoft.com/office/drawing/2014/main" id="{62E06613-57C3-AE19-BD96-38F1039FAD57}"/>
              </a:ext>
            </a:extLst>
          </p:cNvPr>
          <p:cNvSpPr>
            <a:spLocks noGrp="1"/>
          </p:cNvSpPr>
          <p:nvPr>
            <p:ph idx="1"/>
          </p:nvPr>
        </p:nvSpPr>
        <p:spPr>
          <a:xfrm>
            <a:off x="838200" y="1825625"/>
            <a:ext cx="9552709" cy="4351338"/>
          </a:xfrm>
        </p:spPr>
        <p:txBody>
          <a:bodyPr numCol="2"/>
          <a:lstStyle/>
          <a:p>
            <a:r>
              <a:rPr lang="en-IN" sz="2000" dirty="0">
                <a:latin typeface="Times New Roman" panose="02020603050405020304" pitchFamily="18" charset="0"/>
                <a:cs typeface="Times New Roman" panose="02020603050405020304" pitchFamily="18" charset="0"/>
              </a:rPr>
              <a:t>Gesture Variability</a:t>
            </a:r>
          </a:p>
          <a:p>
            <a:r>
              <a:rPr lang="en-IN" sz="2000" dirty="0">
                <a:latin typeface="Times New Roman" panose="02020603050405020304" pitchFamily="18" charset="0"/>
                <a:cs typeface="Times New Roman" panose="02020603050405020304" pitchFamily="18" charset="0"/>
              </a:rPr>
              <a:t>Sensor Calibration</a:t>
            </a:r>
          </a:p>
          <a:p>
            <a:r>
              <a:rPr lang="en-IN" sz="2000" dirty="0">
                <a:latin typeface="Times New Roman" panose="02020603050405020304" pitchFamily="18" charset="0"/>
                <a:cs typeface="Times New Roman" panose="02020603050405020304" pitchFamily="18" charset="0"/>
              </a:rPr>
              <a:t>Real-Time Processing</a:t>
            </a:r>
          </a:p>
          <a:p>
            <a:r>
              <a:rPr lang="en-IN" sz="2000" dirty="0">
                <a:latin typeface="Times New Roman" panose="02020603050405020304" pitchFamily="18" charset="0"/>
                <a:cs typeface="Times New Roman" panose="02020603050405020304" pitchFamily="18" charset="0"/>
              </a:rPr>
              <a:t>Battery Efficiency</a:t>
            </a:r>
          </a:p>
          <a:p>
            <a:r>
              <a:rPr lang="en-IN" sz="2000" dirty="0">
                <a:latin typeface="Times New Roman" panose="02020603050405020304" pitchFamily="18" charset="0"/>
                <a:cs typeface="Times New Roman" panose="02020603050405020304" pitchFamily="18" charset="0"/>
              </a:rPr>
              <a:t>Data Mapping Complexity</a:t>
            </a:r>
          </a:p>
          <a:p>
            <a:r>
              <a:rPr lang="en-IN" sz="2000" dirty="0">
                <a:latin typeface="Times New Roman" panose="02020603050405020304" pitchFamily="18" charset="0"/>
                <a:cs typeface="Times New Roman" panose="02020603050405020304" pitchFamily="18" charset="0"/>
              </a:rPr>
              <a:t>Hardware Damage</a:t>
            </a:r>
          </a:p>
          <a:p>
            <a:r>
              <a:rPr lang="en-IN" sz="2000" dirty="0">
                <a:latin typeface="Times New Roman" panose="02020603050405020304" pitchFamily="18" charset="0"/>
                <a:cs typeface="Times New Roman" panose="02020603050405020304" pitchFamily="18" charset="0"/>
              </a:rPr>
              <a:t>Accuracy Risks</a:t>
            </a:r>
          </a:p>
          <a:p>
            <a:r>
              <a:rPr lang="en-IN" sz="2000" dirty="0">
                <a:latin typeface="Times New Roman" panose="02020603050405020304" pitchFamily="18" charset="0"/>
                <a:cs typeface="Times New Roman" panose="02020603050405020304" pitchFamily="18" charset="0"/>
              </a:rPr>
              <a:t>Overfitting in ML Models</a:t>
            </a:r>
          </a:p>
          <a:p>
            <a:pPr marL="0" indent="0">
              <a:buNone/>
            </a:pPr>
            <a:endParaRPr lang="en-IN" dirty="0"/>
          </a:p>
        </p:txBody>
      </p:sp>
      <p:sp>
        <p:nvSpPr>
          <p:cNvPr id="7" name="Slide Number Placeholder 6">
            <a:extLst>
              <a:ext uri="{FF2B5EF4-FFF2-40B4-BE49-F238E27FC236}">
                <a16:creationId xmlns:a16="http://schemas.microsoft.com/office/drawing/2014/main" id="{55915EB4-4111-91E2-C84E-2251337DB024}"/>
              </a:ext>
            </a:extLst>
          </p:cNvPr>
          <p:cNvSpPr>
            <a:spLocks noGrp="1"/>
          </p:cNvSpPr>
          <p:nvPr>
            <p:ph type="sldNum" sz="quarter" idx="12"/>
          </p:nvPr>
        </p:nvSpPr>
        <p:spPr>
          <a:xfrm>
            <a:off x="9340273" y="6513657"/>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16</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16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3735018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22AE-D73F-2A5A-54C2-837305BE5FE1}"/>
              </a:ext>
            </a:extLst>
          </p:cNvPr>
          <p:cNvSpPr>
            <a:spLocks noGrp="1"/>
          </p:cNvSpPr>
          <p:nvPr>
            <p:ph type="title"/>
          </p:nvPr>
        </p:nvSpPr>
        <p:spPr>
          <a:xfrm>
            <a:off x="0" y="0"/>
            <a:ext cx="10515600" cy="909493"/>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2702E44-8B2C-F5B3-BEA0-3715F26CC969}"/>
              </a:ext>
            </a:extLst>
          </p:cNvPr>
          <p:cNvSpPr>
            <a:spLocks noGrp="1"/>
          </p:cNvSpPr>
          <p:nvPr>
            <p:ph idx="1"/>
          </p:nvPr>
        </p:nvSpPr>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smart glove bridges the communication gap for differently-abled individuals while introducing an innovative application for gesture-controlled devices. This project contributes to accessibility, IoT-based wearables, and human–machine interaction.</a:t>
            </a:r>
          </a:p>
          <a:p>
            <a:pPr marL="0" indent="0">
              <a:buNone/>
            </a:pPr>
            <a:endParaRPr lang="en-IN" dirty="0"/>
          </a:p>
        </p:txBody>
      </p:sp>
      <p:sp>
        <p:nvSpPr>
          <p:cNvPr id="7" name="Slide Number Placeholder 6">
            <a:extLst>
              <a:ext uri="{FF2B5EF4-FFF2-40B4-BE49-F238E27FC236}">
                <a16:creationId xmlns:a16="http://schemas.microsoft.com/office/drawing/2014/main" id="{07D42C7B-02D8-9ADB-B79C-BCCBA7F4A4FE}"/>
              </a:ext>
            </a:extLst>
          </p:cNvPr>
          <p:cNvSpPr>
            <a:spLocks noGrp="1"/>
          </p:cNvSpPr>
          <p:nvPr>
            <p:ph type="sldNum" sz="quarter" idx="12"/>
          </p:nvPr>
        </p:nvSpPr>
        <p:spPr>
          <a:xfrm>
            <a:off x="9377218" y="6492875"/>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17</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17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673734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982CC-C5C8-AC02-7B9E-FA500D0B1104}"/>
              </a:ext>
            </a:extLst>
          </p:cNvPr>
          <p:cNvSpPr>
            <a:spLocks noGrp="1"/>
          </p:cNvSpPr>
          <p:nvPr>
            <p:ph type="title"/>
          </p:nvPr>
        </p:nvSpPr>
        <p:spPr>
          <a:xfrm>
            <a:off x="0" y="0"/>
            <a:ext cx="10515600" cy="863311"/>
          </a:xfrm>
          <a:solidFill>
            <a:srgbClr val="002060"/>
          </a:solidFill>
        </p:spPr>
        <p:txBody>
          <a:bodyPr/>
          <a:lstStyle/>
          <a:p>
            <a:r>
              <a:rPr lang="en-IN" b="1" dirty="0">
                <a:solidFill>
                  <a:schemeClr val="bg2"/>
                </a:solidFill>
                <a:latin typeface="Times New Roman" panose="02020603050405020304" pitchFamily="18" charset="0"/>
                <a:cs typeface="Times New Roman" panose="02020603050405020304" pitchFamily="18" charset="0"/>
              </a:rPr>
              <a:t>References</a:t>
            </a:r>
          </a:p>
        </p:txBody>
      </p:sp>
      <p:sp>
        <p:nvSpPr>
          <p:cNvPr id="7" name="Slide Number Placeholder 6">
            <a:extLst>
              <a:ext uri="{FF2B5EF4-FFF2-40B4-BE49-F238E27FC236}">
                <a16:creationId xmlns:a16="http://schemas.microsoft.com/office/drawing/2014/main" id="{FAB07DA8-149C-919E-20F5-4E0F55913F91}"/>
              </a:ext>
            </a:extLst>
          </p:cNvPr>
          <p:cNvSpPr>
            <a:spLocks noGrp="1"/>
          </p:cNvSpPr>
          <p:nvPr>
            <p:ph type="sldNum" sz="quarter" idx="12"/>
          </p:nvPr>
        </p:nvSpPr>
        <p:spPr>
          <a:xfrm>
            <a:off x="9294091" y="6486144"/>
            <a:ext cx="2743200" cy="365125"/>
          </a:xfrm>
        </p:spPr>
        <p:txBody>
          <a:bodyPr/>
          <a:lstStyle/>
          <a:p>
            <a:fld id="{249020A1-FA28-4834-83A8-C0CE35CB1668}" type="slidenum">
              <a:rPr lang="en-IN" sz="1800" smtClean="0">
                <a:solidFill>
                  <a:schemeClr val="bg2"/>
                </a:solidFill>
                <a:latin typeface="Times New Roman" panose="02020603050405020304" pitchFamily="18" charset="0"/>
                <a:cs typeface="Times New Roman" panose="02020603050405020304" pitchFamily="18" charset="0"/>
              </a:rPr>
              <a:pPr/>
              <a:t>18</a:t>
            </a:fld>
            <a:endParaRPr lang="en-IN" sz="1800" dirty="0">
              <a:solidFill>
                <a:schemeClr val="bg2"/>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9AA0C98-56AF-4C63-B165-FD81A4E4E4C3}"/>
              </a:ext>
            </a:extLst>
          </p:cNvPr>
          <p:cNvSpPr>
            <a:spLocks noGrp="1" noChangeArrowheads="1"/>
          </p:cNvSpPr>
          <p:nvPr>
            <p:ph idx="1"/>
          </p:nvPr>
        </p:nvSpPr>
        <p:spPr bwMode="auto">
          <a:xfrm>
            <a:off x="738909" y="1421644"/>
            <a:ext cx="9672782" cy="2160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 Fok et al., “A data glove for sign language recognition,” IEEE Sensors Journal, 2020.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Chen et al., “Wearable sensor-based sign language translation,” ACM IMWUT, 2019.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Arduino Documentation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www.arduino.cc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Espressif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ESP32 Documentation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www.espressif.com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BIC685  - Project Presentation                                18                  </a:t>
            </a:r>
            <a:endParaRPr lang="en-IN" dirty="0">
              <a:ln>
                <a:solidFill>
                  <a:schemeClr val="bg1"/>
                </a:solidFill>
              </a:ln>
              <a:solidFill>
                <a:schemeClr val="bg1"/>
              </a:solidFill>
            </a:endParaRPr>
          </a:p>
        </p:txBody>
      </p:sp>
    </p:spTree>
    <p:extLst>
      <p:ext uri="{BB962C8B-B14F-4D97-AF65-F5344CB8AC3E}">
        <p14:creationId xmlns:p14="http://schemas.microsoft.com/office/powerpoint/2010/main" val="2386170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1C5DB-312B-031E-0649-FABFCA5FC8FE}"/>
              </a:ext>
            </a:extLst>
          </p:cNvPr>
          <p:cNvSpPr>
            <a:spLocks noGrp="1"/>
          </p:cNvSpPr>
          <p:nvPr>
            <p:ph idx="1"/>
          </p:nvPr>
        </p:nvSpPr>
        <p:spPr/>
        <p:txBody>
          <a:bodyPr/>
          <a:lstStyle/>
          <a:p>
            <a:pPr marL="0" indent="0">
              <a:buNone/>
            </a:pPr>
            <a:r>
              <a:rPr lang="en-IN" dirty="0"/>
              <a:t>                                      </a:t>
            </a:r>
          </a:p>
          <a:p>
            <a:pPr marL="0" indent="0">
              <a:buNone/>
            </a:pPr>
            <a:r>
              <a:rPr lang="en-IN" dirty="0"/>
              <a:t>                                           </a:t>
            </a:r>
            <a:r>
              <a:rPr lang="en-IN" sz="4400" b="1" dirty="0">
                <a:latin typeface="Times New Roman" panose="02020603050405020304" pitchFamily="18" charset="0"/>
                <a:ea typeface="Tahoma" panose="020B0604030504040204" pitchFamily="34" charset="0"/>
                <a:cs typeface="Times New Roman" panose="02020603050405020304" pitchFamily="18" charset="0"/>
              </a:rPr>
              <a:t>Thank You!</a:t>
            </a:r>
          </a:p>
        </p:txBody>
      </p:sp>
      <p:sp>
        <p:nvSpPr>
          <p:cNvPr id="5" name="Slide Number Placeholder 4">
            <a:extLst>
              <a:ext uri="{FF2B5EF4-FFF2-40B4-BE49-F238E27FC236}">
                <a16:creationId xmlns:a16="http://schemas.microsoft.com/office/drawing/2014/main" id="{1710E0F9-8A17-3EB3-BB07-B21262CBA430}"/>
              </a:ext>
            </a:extLst>
          </p:cNvPr>
          <p:cNvSpPr>
            <a:spLocks noGrp="1"/>
          </p:cNvSpPr>
          <p:nvPr>
            <p:ph type="sldNum" sz="quarter" idx="12"/>
          </p:nvPr>
        </p:nvSpPr>
        <p:spPr/>
        <p:txBody>
          <a:bodyPr/>
          <a:lstStyle/>
          <a:p>
            <a:fld id="{249020A1-FA28-4834-83A8-C0CE35CB1668}" type="slidenum">
              <a:rPr lang="en-IN" smtClean="0"/>
              <a:pPr/>
              <a:t>19</a:t>
            </a:fld>
            <a:endParaRPr lang="en-IN"/>
          </a:p>
        </p:txBody>
      </p:sp>
    </p:spTree>
    <p:extLst>
      <p:ext uri="{BB962C8B-B14F-4D97-AF65-F5344CB8AC3E}">
        <p14:creationId xmlns:p14="http://schemas.microsoft.com/office/powerpoint/2010/main" val="2274991487"/>
      </p:ext>
    </p:extLst>
  </p:cSld>
  <p:clrMapOvr>
    <a:masterClrMapping/>
  </p:clrMapOvr>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2250</TotalTime>
  <Words>1236</Words>
  <Application>Microsoft Office PowerPoint</Application>
  <PresentationFormat>Widescreen</PresentationFormat>
  <Paragraphs>143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EAST POINT COLLEGE OF ENGINEERING &amp; TECHNOLOGY</vt:lpstr>
      <vt:lpstr>Presentation Outline</vt:lpstr>
      <vt:lpstr>  Abstract</vt:lpstr>
      <vt:lpstr>Objectives</vt:lpstr>
      <vt:lpstr>Introduction</vt:lpstr>
      <vt:lpstr>Problem Statement</vt:lpstr>
      <vt:lpstr>Scope of the project</vt:lpstr>
      <vt:lpstr>Existing System</vt:lpstr>
      <vt:lpstr>Proposed System</vt:lpstr>
      <vt:lpstr>Literature Survey</vt:lpstr>
      <vt:lpstr>Project Schedules / Gantt Chart</vt:lpstr>
      <vt:lpstr>Requirements Specification</vt:lpstr>
      <vt:lpstr>Technology stack</vt:lpstr>
      <vt:lpstr>Methodology</vt:lpstr>
      <vt:lpstr>Expected Results</vt:lpstr>
      <vt:lpstr>Challenges &amp; Risks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dc:title>
  <dc:creator>abhijith</dc:creator>
  <cp:lastModifiedBy>sonu sonu</cp:lastModifiedBy>
  <cp:revision>113</cp:revision>
  <dcterms:created xsi:type="dcterms:W3CDTF">2018-09-27T05:23:08Z</dcterms:created>
  <dcterms:modified xsi:type="dcterms:W3CDTF">2025-12-01T05:58:58Z</dcterms:modified>
</cp:coreProperties>
</file>