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handoutMasterIdLst>
    <p:handoutMasterId r:id="rId17"/>
  </p:handoutMasterIdLst>
  <p:sldIdLst>
    <p:sldId id="342" r:id="rId2"/>
    <p:sldId id="259" r:id="rId3"/>
    <p:sldId id="384" r:id="rId4"/>
    <p:sldId id="386" r:id="rId5"/>
    <p:sldId id="393" r:id="rId6"/>
    <p:sldId id="419" r:id="rId7"/>
    <p:sldId id="392" r:id="rId8"/>
    <p:sldId id="388" r:id="rId9"/>
    <p:sldId id="416" r:id="rId10"/>
    <p:sldId id="398" r:id="rId11"/>
    <p:sldId id="417" r:id="rId12"/>
    <p:sldId id="404" r:id="rId13"/>
    <p:sldId id="350" r:id="rId14"/>
    <p:sldId id="3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822"/>
    <a:srgbClr val="69A83E"/>
    <a:srgbClr val="CEDDC9"/>
    <a:srgbClr val="EBF1E9"/>
    <a:srgbClr val="5F9838"/>
    <a:srgbClr val="598F35"/>
    <a:srgbClr val="579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15" autoAdjust="0"/>
  </p:normalViewPr>
  <p:slideViewPr>
    <p:cSldViewPr snapToGrid="0">
      <p:cViewPr varScale="1">
        <p:scale>
          <a:sx n="83" d="100"/>
          <a:sy n="83" d="100"/>
        </p:scale>
        <p:origin x="725" y="7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23138B-D433-809D-ECE2-38892705D2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4C1E34-2032-5CB5-BA30-4D69B4489B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1DC46-39A4-4C14-AF81-0259B9A3E6E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54697-2A58-E40E-8372-CB9E971630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CF585-694C-4F61-FF45-29EACE76ED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5A82D-7783-40AE-8A40-60CBEE2F37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19843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47C9E-4665-4E33-98F6-83BEDCEB0F7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B599D-1D5B-4EC3-A8A1-C8A1F6EF0C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45673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B599D-1D5B-4EC3-A8A1-C8A1F6EF0C7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10ED-5B0E-098F-DD43-BF14DC9DEB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97561FE-E6F9-5E34-E41A-5888ADE3FDF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16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65952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73852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22084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72489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51717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79271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62555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79242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6333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00425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19409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0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02" y="7951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3" name="TextBox 5"/>
          <p:cNvSpPr txBox="1">
            <a:spLocks noChangeArrowheads="1"/>
          </p:cNvSpPr>
          <p:nvPr/>
        </p:nvSpPr>
        <p:spPr bwMode="auto">
          <a:xfrm>
            <a:off x="5096429" y="6431990"/>
            <a:ext cx="24563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www.eastpoint.ac.in</a:t>
            </a:r>
          </a:p>
        </p:txBody>
      </p:sp>
      <p:pic>
        <p:nvPicPr>
          <p:cNvPr id="10" name="Picture Placeholder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92" r="25592"/>
          <a:stretch/>
        </p:blipFill>
        <p:spPr>
          <a:xfrm>
            <a:off x="6324600" y="848260"/>
            <a:ext cx="5867400" cy="6009740"/>
          </a:xfrm>
          <a:custGeom>
            <a:avLst/>
            <a:gdLst>
              <a:gd name="connsiteX0" fmla="*/ 5919758 w 5919758"/>
              <a:gd name="connsiteY0" fmla="*/ 0 h 5825419"/>
              <a:gd name="connsiteX1" fmla="*/ 5919758 w 5919758"/>
              <a:gd name="connsiteY1" fmla="*/ 5825419 h 5825419"/>
              <a:gd name="connsiteX2" fmla="*/ 1120273 w 5919758"/>
              <a:gd name="connsiteY2" fmla="*/ 5825419 h 5825419"/>
              <a:gd name="connsiteX3" fmla="*/ 0 w 5919758"/>
              <a:gd name="connsiteY3" fmla="*/ 1588036 h 582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19758" h="5825419">
                <a:moveTo>
                  <a:pt x="5919758" y="0"/>
                </a:moveTo>
                <a:lnTo>
                  <a:pt x="5919758" y="5825419"/>
                </a:lnTo>
                <a:lnTo>
                  <a:pt x="1120273" y="5825419"/>
                </a:lnTo>
                <a:lnTo>
                  <a:pt x="0" y="1588036"/>
                </a:lnTo>
                <a:close/>
              </a:path>
            </a:pathLst>
          </a:custGeom>
        </p:spPr>
      </p:pic>
      <p:sp>
        <p:nvSpPr>
          <p:cNvPr id="11" name="Title 6"/>
          <p:cNvSpPr>
            <a:spLocks noGrp="1"/>
          </p:cNvSpPr>
          <p:nvPr>
            <p:ph type="ctrTitle"/>
          </p:nvPr>
        </p:nvSpPr>
        <p:spPr>
          <a:xfrm>
            <a:off x="358996" y="5710275"/>
            <a:ext cx="5117179" cy="762000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– (IoT &amp; CSBT)</a:t>
            </a:r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6089" y="5646775"/>
            <a:ext cx="901817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8"/>
          <p:cNvSpPr txBox="1">
            <a:spLocks/>
          </p:cNvSpPr>
          <p:nvPr/>
        </p:nvSpPr>
        <p:spPr>
          <a:xfrm>
            <a:off x="35845" y="1306847"/>
            <a:ext cx="6492176" cy="4339927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  <a:p>
            <a:pPr>
              <a:defRPr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>
              <a:defRPr/>
            </a:pPr>
            <a:r>
              <a:rPr lang="en-US" sz="2800" b="1" dirty="0">
                <a:solidFill>
                  <a:srgbClr val="00A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“SIGN RHYTHM”</a:t>
            </a:r>
          </a:p>
          <a:p>
            <a:pPr>
              <a:defRPr/>
            </a:pPr>
            <a:r>
              <a:rPr lang="en-US" sz="2400" b="1" dirty="0">
                <a:solidFill>
                  <a:srgbClr val="00A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Glove for sign language translation and Gesture Controlled Home Automation</a:t>
            </a:r>
          </a:p>
          <a:p>
            <a:pPr>
              <a:defRPr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>
              <a:defRPr/>
            </a:pPr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Jayalaxmi       - 1EP22IC024</a:t>
            </a:r>
          </a:p>
          <a:p>
            <a:pPr>
              <a:defRPr/>
            </a:pPr>
            <a:r>
              <a:rPr lang="en-US" sz="1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Pavan Kumar - 1EP22IC039</a:t>
            </a:r>
          </a:p>
          <a:p>
            <a:pPr>
              <a:defRPr/>
            </a:pPr>
            <a:r>
              <a:rPr lang="en-US" sz="1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Tanaya S          - 1EP22IC055</a:t>
            </a:r>
          </a:p>
          <a:p>
            <a:pPr>
              <a:defRPr/>
            </a:pPr>
            <a:r>
              <a:rPr lang="en-US" sz="1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Vaishnavi         - 1EP22IC058</a:t>
            </a:r>
          </a:p>
          <a:p>
            <a:pPr>
              <a:lnSpc>
                <a:spcPct val="150000"/>
              </a:lnSpc>
              <a:defRPr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 Prakash Malviya</a:t>
            </a:r>
          </a:p>
          <a:p>
            <a:pPr>
              <a:defRPr/>
            </a:pPr>
            <a:r>
              <a:rPr lang="en-IN" sz="18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  <a:endParaRPr lang="en-US" sz="1800" b="1" i="1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BBA3E-E6DC-E278-0161-1843A1219AAE}"/>
              </a:ext>
            </a:extLst>
          </p:cNvPr>
          <p:cNvSpPr txBox="1"/>
          <p:nvPr/>
        </p:nvSpPr>
        <p:spPr>
          <a:xfrm>
            <a:off x="130432" y="758031"/>
            <a:ext cx="8270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(An Autonomous Institute, Affiliated to VTU, Belagavi)</a:t>
            </a:r>
            <a:r>
              <a:rPr lang="en-IN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Jnana Prabha, Bidarahalli, Bengaluru-49</a:t>
            </a:r>
            <a:r>
              <a:rPr lang="en-IN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Approved by AICTE, New Delhi &amp; Government of Karnataka</a:t>
            </a:r>
            <a:r>
              <a:rPr lang="en-IN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Accredited by NBA (CSE, ECE &amp; ISE) and NAAC with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Grade</a:t>
            </a:r>
            <a:endParaRPr lang="en-IN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E71D1F-3B91-A983-A6B3-C0507BE172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124" y="119906"/>
            <a:ext cx="7441644" cy="641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88714501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455" y="740427"/>
            <a:ext cx="2189746" cy="104452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7209" y="1837698"/>
            <a:ext cx="11130915" cy="4237982"/>
          </a:xfrm>
        </p:spPr>
        <p:txBody>
          <a:bodyPr numCol="2"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Proposed Method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Motivation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Challenges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Hardware and Software Requirements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Architecture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Algorithm Used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 case diagram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Sequence diagram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Results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Result Analysis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B48CD6-5AA2-0DA5-37E3-466FAB364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E32F90-1B8F-1D99-FF50-1646D2F2FF84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490772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997"/>
            <a:ext cx="10515600" cy="74869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1ED5DE-D130-398D-41D9-E8D5E10FDD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4D59332-4DC5-AF46-DB8D-0910FDB1F15B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15548C8-51B0-5549-AA5B-BEBF22B5B5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9"/>
            <a:ext cx="620233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ADXL345 senses gesture → sends data to Smart Glove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processes gesture → sends output to LCD and Relay.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Relay controls Fan and Light.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feeds the entire system.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C643A5-3E74-4910-3F76-C2B0F6CE68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306" y="1844578"/>
            <a:ext cx="3511285" cy="268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7998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6793"/>
            <a:ext cx="10515600" cy="116089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Architecture (cont.)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41B32A-39C5-802B-5CDA-F0955459F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3343"/>
            <a:ext cx="10515600" cy="378362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Glove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accelerometer, wiring, and microcontroller interface.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maps sensor values to gestures.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displays recognized command.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 Player (optional addition) plays prerecorded voice messages.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Relays operate connected appliances.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919D30-40DC-7C71-7103-30BD60523E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FEDBB6-5D38-CE1D-EB77-1BA80F3C5D15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229516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997"/>
            <a:ext cx="10515600" cy="74869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Algorithm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C5E6B8-80F8-E501-EE43-24B4A9237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ADXL345, LCD,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DFPlayer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Relays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X-axis value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X-axis reading with gesture thresholds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match detected → trigger mapped action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output message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corresponding audio (if applicable)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 relay for appliances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CC7275-7605-8477-DD07-F6BA763D8D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23A307-3E85-4D92-1BF7-468E9F731FA7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951466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2D3C-1627-A530-F696-5F01B0534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Use Case Diagram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5667346-8066-DCB1-ADB9-A123A6EF6E2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274769"/>
            <a:ext cx="5181600" cy="345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181728-CC23-FA2C-F377-664D2F4CAD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performs gestures which are detected by the Smart Glove System.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reads accelerometer data and identifies the gesture.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gesture, the system performs different actions: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 message on the LCD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Plays a voice message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home appliances like fan   and light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the user to communicate and control devices through simple hand movements.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1EE7DC-A7C9-3C3C-2CE3-6BBBF23DEA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2139539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32" y="941997"/>
            <a:ext cx="10852868" cy="74869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Sequence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2F6FA5-38A1-6D1F-6B7D-9C233C8DC9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35" y="1935907"/>
            <a:ext cx="5181600" cy="3454400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876CB-D23C-0D82-C650-A11427AC74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performs a gesture.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detects acceleration.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processes gesture values.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displayed on LCD.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DFPlayer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plays audio feedback.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switches fan/light ON or OFF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FF494E-D063-9F86-3762-6FD71D10CD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71A7FD3-7048-02D9-039E-3E0DABBB81F8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047531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33383" cy="123856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Implementation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EA208B-ED9A-FF4B-855A-564B1BFCD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27868"/>
            <a:ext cx="5053717" cy="50093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Wire.h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&lt;Adafruit_ADXL345_U.h&gt;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&lt;LiquidCrystal_I2C_Hangul.h&gt;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DFRobotDFPlayerMini.h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SoftwareSerial.h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LiquidCrystal_I2C_Hangul lcd(0x27,16,2);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Adafruit_ADXL345_Unified accel(12345);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SoftwareSerial Serial2(8,9);</a:t>
            </a:r>
          </a:p>
          <a:p>
            <a:pPr marL="0" indent="0">
              <a:buNone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DFRobotDFPlayerMini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myDFPlayer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relay1 = 7, relay2 = 6;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setup() {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lcd.init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lcd.backlight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Serial2.begin(9600);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myDFPlayer.begin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(Serial2);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accel.begin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accel.setRange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(ADXL345_RANGE_16_G);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(relay1, OUTPUT);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(relay2, OUTPUT);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21C5F5-F24E-C698-C9C4-7810C37BE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1917" y="1407381"/>
            <a:ext cx="5461883" cy="47695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void setup() {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lcd.init</a:t>
            </a:r>
            <a:r>
              <a:rPr lang="en-IN" sz="1400" dirty="0"/>
              <a:t>(); </a:t>
            </a:r>
            <a:r>
              <a:rPr lang="en-IN" sz="1400" dirty="0" err="1"/>
              <a:t>lcd.backlight</a:t>
            </a:r>
            <a:r>
              <a:rPr lang="en-IN" sz="1400" dirty="0"/>
              <a:t>();</a:t>
            </a:r>
          </a:p>
          <a:p>
            <a:pPr marL="0" indent="0">
              <a:buNone/>
            </a:pPr>
            <a:r>
              <a:rPr lang="en-IN" sz="1400" dirty="0"/>
              <a:t>  Serial2.begin(9600);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myDFPlayer.begin</a:t>
            </a:r>
            <a:r>
              <a:rPr lang="en-IN" sz="1400" dirty="0"/>
              <a:t>(Serial2);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accel.begin</a:t>
            </a:r>
            <a:r>
              <a:rPr lang="en-IN" sz="1400" dirty="0"/>
              <a:t>(); </a:t>
            </a:r>
            <a:r>
              <a:rPr lang="en-IN" sz="1400" dirty="0" err="1"/>
              <a:t>accel.setRange</a:t>
            </a:r>
            <a:r>
              <a:rPr lang="en-IN" sz="1400" dirty="0"/>
              <a:t>(ADXL345_RANGE_16_G);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pinMode</a:t>
            </a:r>
            <a:r>
              <a:rPr lang="en-IN" sz="1400" dirty="0"/>
              <a:t>(relay1, OUTPUT); </a:t>
            </a:r>
            <a:r>
              <a:rPr lang="en-IN" sz="1400" dirty="0" err="1"/>
              <a:t>pinMode</a:t>
            </a:r>
            <a:r>
              <a:rPr lang="en-IN" sz="1400" dirty="0"/>
              <a:t>(relay2, OUTPUT);}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loop() {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sensors_event_t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accel.getEvent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(&amp;event);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float x =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event.acceleration.x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if(x&gt;=-10 &amp;&amp; x&lt;-8)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fanoff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else if(x&gt;=-8 &amp;&amp; x&lt;-6) fanon();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else if(x&gt;=-6 &amp;&amp; x&lt;-4)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else if(x&gt;=-4 &amp;&amp; x&lt;-2)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lightoff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BDA2270-9901-6206-0B34-DB02B05272F2}"/>
              </a:ext>
            </a:extLst>
          </p:cNvPr>
          <p:cNvSpPr txBox="1">
            <a:spLocks/>
          </p:cNvSpPr>
          <p:nvPr/>
        </p:nvSpPr>
        <p:spPr>
          <a:xfrm>
            <a:off x="579120" y="1858002"/>
            <a:ext cx="10962640" cy="42379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27E70-7D9C-5CEF-AF80-4BBADA949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14D138-C3D2-745C-1CB6-36C7E88394A6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110794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6DBB75A8-FD8F-7DAF-A7E5-D606EC2A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4887"/>
            <a:ext cx="10515600" cy="85580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Gesture Dataset used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D9D3C-5917-8453-046B-14B507EB8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1"/>
            <a:ext cx="10515600" cy="4586702"/>
          </a:xfrm>
        </p:spPr>
        <p:txBody>
          <a:bodyPr>
            <a:normAutofit fontScale="55000" lnSpcReduction="20000"/>
          </a:bodyPr>
          <a:lstStyle/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consists of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 readings (X, Y, Z axes)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ADXL345 sensor.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gesture is recorded multiple times to obtain stable values.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values were observed using Arduino Serial Monitor.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 values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used for gesture classification in this project.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Gestures mapped to specific ranges: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OFF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OFF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Hungry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need Help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Don’t Understand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8F936F-6355-4505-D1DB-BF87A629B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442" y="199419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759550-EB2E-B722-5517-2A91D4989741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8375134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8140"/>
            <a:ext cx="10515600" cy="108935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Results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B0A750-2F55-2D23-DA8B-F35216B87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8462"/>
            <a:ext cx="10515600" cy="39185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ON/OFF gesture detected successfully.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ON/OFF gesture triggered accurately.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and communication gestures recognized.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outputs clear text messages.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Relays switch appliances reliably.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DFPlayer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outputs voice feedback.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BDA2270-9901-6206-0B34-DB02B05272F2}"/>
              </a:ext>
            </a:extLst>
          </p:cNvPr>
          <p:cNvSpPr txBox="1">
            <a:spLocks/>
          </p:cNvSpPr>
          <p:nvPr/>
        </p:nvSpPr>
        <p:spPr>
          <a:xfrm>
            <a:off x="579120" y="1858002"/>
            <a:ext cx="10962640" cy="42379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77CD9-4C48-E3D8-5C32-3020F07D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BE99501-47D7-DD8E-FF3D-9C1B7930BB5F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222908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3139E-B819-FEB5-191F-7722C0C4B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68" y="1319917"/>
            <a:ext cx="10515600" cy="990973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Results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AD348-3E2D-4861-4A20-AB52CCB7E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8271"/>
            <a:ext cx="10515600" cy="360869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 accuracy: Above 90% in controlled testing.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delay between gesture and output.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 usability.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relay switching with minimal false triggers.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environments.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D31C4-FC7C-F47D-853A-5A6AB82AFF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7268" y="113264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7877516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1CA2-555B-AA34-AA17-C1C9A674B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228" y="941997"/>
            <a:ext cx="10574572" cy="748691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603A2C-DD81-0734-00C2-D0D9D791A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glove accurately detects hand gestures using the ADXL345 sensor.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Gestures are successfully converted into text, audio, and appliance control actions.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effective communication aid for speech-impaired individuals.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glove enables hands-free control of home appliances, improving user independence.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is low-cost, portable, and easy to use.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showed high reliability and fast response time.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strong potential for future upgrades and real-world application.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3D0188-FDEC-C010-12F6-C696427065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53716B6-D589-7A60-FD27-C831A5AE2059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0015279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8741"/>
            <a:ext cx="10515600" cy="10815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C56931-44C5-3B81-D828-262EAF81B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559"/>
            <a:ext cx="10515600" cy="3982403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T. S. S. Rani, P. Swetha, and K. Venkatesh, “Smart glove for sign language recognition using flex sensors,” IJERT, vol. 8, no. 05, pp. 312–316, 2019.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M. A.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Alsibai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N. S. M. Ali, “Hand gesture recognition using accelerometer sensor for sign language translation,” IJACSA, vol. 11, no. 4, pp. 1–7, 2020.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A. F. M. Shah and S. R. Amin, “Accelerometer-based gesture recognition for human–computer interaction,” IEEE Sensors Journal, vol. 20, no. 14, pp. 8051–8059, 2020.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Chatterjee and A. Roy, “Assistive technology for disabled persons using Arduino-based automation,” IJSRET, vol. 6, no. 3, pp. 456–461, 2020.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K. Mukherjee and B. Deb, “Wearable gesture recognition using accelerometer and gyroscope,” Procedia Computer Science, vol. 167, pp. 2410–2417, 2020.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S. K. Saha, “Home automation using microcontrollers: A survey,” IJERT, vol. 7, no. 8, pp. 112–116, 2018.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5D6A3B-91A0-6E26-BF12-36457A3FBB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BB02560-4A04-4B61-C3F0-4A581CA46BCD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448369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6D37A3-D734-45B5-B6B2-083FF59FB590}"/>
              </a:ext>
            </a:extLst>
          </p:cNvPr>
          <p:cNvSpPr/>
          <p:nvPr/>
        </p:nvSpPr>
        <p:spPr>
          <a:xfrm>
            <a:off x="3708167" y="2828835"/>
            <a:ext cx="4775666" cy="1200329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72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Thank you!</a:t>
            </a:r>
            <a:endParaRPr lang="en-IN" sz="72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625DAF-24D6-8EBD-5E53-2482B8FAD6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2A7304-D3D1-CC51-18E2-90C714F134D9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699473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8973</TotalTime>
  <Words>1235</Words>
  <Application>Microsoft Office PowerPoint</Application>
  <PresentationFormat>Widescreen</PresentationFormat>
  <Paragraphs>177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Times New Roman</vt:lpstr>
      <vt:lpstr>Office 2013 - 2022 Theme</vt:lpstr>
      <vt:lpstr>Department of CSE – (IoT &amp; CSBT)</vt:lpstr>
      <vt:lpstr>Contents</vt:lpstr>
      <vt:lpstr>Architecture</vt:lpstr>
      <vt:lpstr>Architecture (cont.)</vt:lpstr>
      <vt:lpstr>Algorithm Used</vt:lpstr>
      <vt:lpstr>Use Case Diagram</vt:lpstr>
      <vt:lpstr>Sequence Diagram</vt:lpstr>
      <vt:lpstr>Implementation</vt:lpstr>
      <vt:lpstr>Gesture Dataset used</vt:lpstr>
      <vt:lpstr>Results</vt:lpstr>
      <vt:lpstr>    Results Analysis</vt:lpstr>
      <vt:lpstr> 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Prof. Sandeep</dc:creator>
  <cp:lastModifiedBy>sonu sonu</cp:lastModifiedBy>
  <cp:revision>325</cp:revision>
  <dcterms:created xsi:type="dcterms:W3CDTF">2020-08-31T05:52:39Z</dcterms:created>
  <dcterms:modified xsi:type="dcterms:W3CDTF">2025-12-01T06:27:30Z</dcterms:modified>
</cp:coreProperties>
</file>