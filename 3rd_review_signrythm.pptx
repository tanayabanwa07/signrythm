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75" r:id="rId5"/>
    <p:sldId id="260" r:id="rId6"/>
    <p:sldId id="261" r:id="rId7"/>
    <p:sldId id="262" r:id="rId8"/>
    <p:sldId id="263" r:id="rId9"/>
    <p:sldId id="278" r:id="rId10"/>
    <p:sldId id="279"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41" autoAdjust="0"/>
    <p:restoredTop sz="94660"/>
  </p:normalViewPr>
  <p:slideViewPr>
    <p:cSldViewPr snapToGrid="0">
      <p:cViewPr varScale="1">
        <p:scale>
          <a:sx n="83" d="100"/>
          <a:sy n="83" d="100"/>
        </p:scale>
        <p:origin x="667"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A212DC-63B1-4901-BBA1-0E9BAC33D41C}" type="datetimeFigureOut">
              <a:rPr lang="en-IN" smtClean="0"/>
              <a:pPr/>
              <a:t>01-12-2025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AF3EA8-841E-473D-8AEC-E28FC8B0AF52}" type="slidenum">
              <a:rPr lang="en-IN" smtClean="0"/>
              <a:pPr/>
              <a:t>‹#›</a:t>
            </a:fld>
            <a:endParaRPr lang="en-IN"/>
          </a:p>
        </p:txBody>
      </p:sp>
    </p:spTree>
    <p:extLst>
      <p:ext uri="{BB962C8B-B14F-4D97-AF65-F5344CB8AC3E}">
        <p14:creationId xmlns:p14="http://schemas.microsoft.com/office/powerpoint/2010/main" val="431445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165E2-C95D-46EA-998A-38DCEF0D67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BFEE819-928C-4720-A8AA-5AC73647F7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3FA4B8A-0E74-42F4-A053-96A2D8441898}"/>
              </a:ext>
            </a:extLst>
          </p:cNvPr>
          <p:cNvSpPr>
            <a:spLocks noGrp="1"/>
          </p:cNvSpPr>
          <p:nvPr>
            <p:ph type="dt" sz="half" idx="10"/>
          </p:nvPr>
        </p:nvSpPr>
        <p:spPr/>
        <p:txBody>
          <a:bodyPr/>
          <a:lstStyle/>
          <a:p>
            <a:fld id="{660CEEFD-69F9-4A82-9184-6CD93B649828}" type="datetime1">
              <a:rPr lang="en-IN" smtClean="0"/>
              <a:t>01-12-2025</a:t>
            </a:fld>
            <a:endParaRPr lang="en-IN"/>
          </a:p>
        </p:txBody>
      </p:sp>
      <p:sp>
        <p:nvSpPr>
          <p:cNvPr id="5" name="Footer Placeholder 4">
            <a:extLst>
              <a:ext uri="{FF2B5EF4-FFF2-40B4-BE49-F238E27FC236}">
                <a16:creationId xmlns:a16="http://schemas.microsoft.com/office/drawing/2014/main" id="{3EE71C71-D8FD-4939-994D-84477E7D9D1A}"/>
              </a:ext>
            </a:extLst>
          </p:cNvPr>
          <p:cNvSpPr>
            <a:spLocks noGrp="1"/>
          </p:cNvSpPr>
          <p:nvPr>
            <p:ph type="ftr" sz="quarter" idx="11"/>
          </p:nvPr>
        </p:nvSpPr>
        <p:spPr/>
        <p:txBody>
          <a:bodyPr/>
          <a:lstStyle/>
          <a:p>
            <a:r>
              <a:rPr lang="en-IN"/>
              <a:t>Dept. of ______, SVIT</a:t>
            </a:r>
          </a:p>
        </p:txBody>
      </p:sp>
      <p:sp>
        <p:nvSpPr>
          <p:cNvPr id="6" name="Slide Number Placeholder 5">
            <a:extLst>
              <a:ext uri="{FF2B5EF4-FFF2-40B4-BE49-F238E27FC236}">
                <a16:creationId xmlns:a16="http://schemas.microsoft.com/office/drawing/2014/main" id="{007C00BF-6BED-432C-9037-5D56FFCE4FE6}"/>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2021035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C1AEB-4D59-402D-9A56-1B4F30A51C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FDBC9B-2FB3-4BE4-A7DA-4FDC5836C1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4FCF0A-82B5-4BBA-8870-DEB7789B60E1}"/>
              </a:ext>
            </a:extLst>
          </p:cNvPr>
          <p:cNvSpPr>
            <a:spLocks noGrp="1"/>
          </p:cNvSpPr>
          <p:nvPr>
            <p:ph type="dt" sz="half" idx="10"/>
          </p:nvPr>
        </p:nvSpPr>
        <p:spPr/>
        <p:txBody>
          <a:bodyPr/>
          <a:lstStyle/>
          <a:p>
            <a:fld id="{120F46BF-1038-4D0F-8DAC-520EB8B7694B}" type="datetime1">
              <a:rPr lang="en-IN" smtClean="0"/>
              <a:t>01-12-2025</a:t>
            </a:fld>
            <a:endParaRPr lang="en-IN"/>
          </a:p>
        </p:txBody>
      </p:sp>
      <p:sp>
        <p:nvSpPr>
          <p:cNvPr id="5" name="Footer Placeholder 4">
            <a:extLst>
              <a:ext uri="{FF2B5EF4-FFF2-40B4-BE49-F238E27FC236}">
                <a16:creationId xmlns:a16="http://schemas.microsoft.com/office/drawing/2014/main" id="{88ACC5C7-5A5D-4CE1-8700-29AC9D851E95}"/>
              </a:ext>
            </a:extLst>
          </p:cNvPr>
          <p:cNvSpPr>
            <a:spLocks noGrp="1"/>
          </p:cNvSpPr>
          <p:nvPr>
            <p:ph type="ftr" sz="quarter" idx="11"/>
          </p:nvPr>
        </p:nvSpPr>
        <p:spPr/>
        <p:txBody>
          <a:bodyPr/>
          <a:lstStyle/>
          <a:p>
            <a:r>
              <a:rPr lang="en-IN"/>
              <a:t>Dept. of ______, SVIT</a:t>
            </a:r>
          </a:p>
        </p:txBody>
      </p:sp>
      <p:sp>
        <p:nvSpPr>
          <p:cNvPr id="6" name="Slide Number Placeholder 5">
            <a:extLst>
              <a:ext uri="{FF2B5EF4-FFF2-40B4-BE49-F238E27FC236}">
                <a16:creationId xmlns:a16="http://schemas.microsoft.com/office/drawing/2014/main" id="{E17B619E-DE02-4C3F-ADC5-8F4B437C60FE}"/>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2609495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C7B8B-A95E-44F4-98E3-52A4CC934E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D86949-633E-495F-A44C-F1DD1F62EE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C6BA20-1C32-4000-92DA-DF5FD0AA6F27}"/>
              </a:ext>
            </a:extLst>
          </p:cNvPr>
          <p:cNvSpPr>
            <a:spLocks noGrp="1"/>
          </p:cNvSpPr>
          <p:nvPr>
            <p:ph type="dt" sz="half" idx="10"/>
          </p:nvPr>
        </p:nvSpPr>
        <p:spPr/>
        <p:txBody>
          <a:bodyPr/>
          <a:lstStyle/>
          <a:p>
            <a:fld id="{1BDF2178-9B58-4465-8EED-DAD9E40D7B50}" type="datetime1">
              <a:rPr lang="en-IN" smtClean="0"/>
              <a:t>01-12-2025</a:t>
            </a:fld>
            <a:endParaRPr lang="en-IN"/>
          </a:p>
        </p:txBody>
      </p:sp>
      <p:sp>
        <p:nvSpPr>
          <p:cNvPr id="5" name="Footer Placeholder 4">
            <a:extLst>
              <a:ext uri="{FF2B5EF4-FFF2-40B4-BE49-F238E27FC236}">
                <a16:creationId xmlns:a16="http://schemas.microsoft.com/office/drawing/2014/main" id="{576E4997-46FC-4684-94AC-02F6DC51350F}"/>
              </a:ext>
            </a:extLst>
          </p:cNvPr>
          <p:cNvSpPr>
            <a:spLocks noGrp="1"/>
          </p:cNvSpPr>
          <p:nvPr>
            <p:ph type="ftr" sz="quarter" idx="11"/>
          </p:nvPr>
        </p:nvSpPr>
        <p:spPr/>
        <p:txBody>
          <a:bodyPr/>
          <a:lstStyle/>
          <a:p>
            <a:r>
              <a:rPr lang="en-IN"/>
              <a:t>Dept. of ______, SVIT</a:t>
            </a:r>
          </a:p>
        </p:txBody>
      </p:sp>
      <p:sp>
        <p:nvSpPr>
          <p:cNvPr id="6" name="Slide Number Placeholder 5">
            <a:extLst>
              <a:ext uri="{FF2B5EF4-FFF2-40B4-BE49-F238E27FC236}">
                <a16:creationId xmlns:a16="http://schemas.microsoft.com/office/drawing/2014/main" id="{5B7EA950-E410-4B54-BE05-DCDD3312FFFF}"/>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4081746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E01E6-BF65-4C34-B3A6-B659CD689C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1F2C33-3767-472F-BD45-991A54F002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53C4111-77F7-4E9C-B8E3-5CE2E94450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FF7538-8C03-4803-89A2-1FC2D816AF1B}"/>
              </a:ext>
            </a:extLst>
          </p:cNvPr>
          <p:cNvSpPr>
            <a:spLocks noGrp="1"/>
          </p:cNvSpPr>
          <p:nvPr>
            <p:ph type="dt" sz="half" idx="10"/>
          </p:nvPr>
        </p:nvSpPr>
        <p:spPr/>
        <p:txBody>
          <a:bodyPr/>
          <a:lstStyle/>
          <a:p>
            <a:fld id="{9DC3E3FF-8340-4281-A339-287B9F3D386A}" type="datetime1">
              <a:rPr lang="en-IN" smtClean="0"/>
              <a:t>01-12-2025</a:t>
            </a:fld>
            <a:endParaRPr lang="en-IN"/>
          </a:p>
        </p:txBody>
      </p:sp>
      <p:sp>
        <p:nvSpPr>
          <p:cNvPr id="6" name="Footer Placeholder 5">
            <a:extLst>
              <a:ext uri="{FF2B5EF4-FFF2-40B4-BE49-F238E27FC236}">
                <a16:creationId xmlns:a16="http://schemas.microsoft.com/office/drawing/2014/main" id="{B1A8EFBA-6E65-47FD-8613-44C349DC35FA}"/>
              </a:ext>
            </a:extLst>
          </p:cNvPr>
          <p:cNvSpPr>
            <a:spLocks noGrp="1"/>
          </p:cNvSpPr>
          <p:nvPr>
            <p:ph type="ftr" sz="quarter" idx="11"/>
          </p:nvPr>
        </p:nvSpPr>
        <p:spPr/>
        <p:txBody>
          <a:bodyPr/>
          <a:lstStyle/>
          <a:p>
            <a:r>
              <a:rPr lang="en-IN"/>
              <a:t>Dept. of ______, SVIT</a:t>
            </a:r>
          </a:p>
        </p:txBody>
      </p:sp>
      <p:sp>
        <p:nvSpPr>
          <p:cNvPr id="7" name="Slide Number Placeholder 6">
            <a:extLst>
              <a:ext uri="{FF2B5EF4-FFF2-40B4-BE49-F238E27FC236}">
                <a16:creationId xmlns:a16="http://schemas.microsoft.com/office/drawing/2014/main" id="{6A309E1D-F164-4F4A-AD29-3BC8FE19B7E5}"/>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717408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1170-35B2-40DF-8350-8A5396985F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E02EE6-5BF9-4F22-98EC-A61443BFC1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59CD52-4212-42DE-AE16-2734A0881D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293CEA6-8B0E-4018-848E-D06DA419FF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ECF992-E8BA-4F32-9F21-B79AFA8E61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6820D55-DB61-4C02-8EA9-9CD390A2A925}"/>
              </a:ext>
            </a:extLst>
          </p:cNvPr>
          <p:cNvSpPr>
            <a:spLocks noGrp="1"/>
          </p:cNvSpPr>
          <p:nvPr>
            <p:ph type="dt" sz="half" idx="10"/>
          </p:nvPr>
        </p:nvSpPr>
        <p:spPr/>
        <p:txBody>
          <a:bodyPr/>
          <a:lstStyle/>
          <a:p>
            <a:fld id="{5694BC6D-B4D2-4A54-9865-0EE66E2E4FF7}" type="datetime1">
              <a:rPr lang="en-IN" smtClean="0"/>
              <a:t>01-12-2025</a:t>
            </a:fld>
            <a:endParaRPr lang="en-IN"/>
          </a:p>
        </p:txBody>
      </p:sp>
      <p:sp>
        <p:nvSpPr>
          <p:cNvPr id="8" name="Footer Placeholder 7">
            <a:extLst>
              <a:ext uri="{FF2B5EF4-FFF2-40B4-BE49-F238E27FC236}">
                <a16:creationId xmlns:a16="http://schemas.microsoft.com/office/drawing/2014/main" id="{FE20A79F-9EB1-4C8B-A060-8D2A0033ED96}"/>
              </a:ext>
            </a:extLst>
          </p:cNvPr>
          <p:cNvSpPr>
            <a:spLocks noGrp="1"/>
          </p:cNvSpPr>
          <p:nvPr>
            <p:ph type="ftr" sz="quarter" idx="11"/>
          </p:nvPr>
        </p:nvSpPr>
        <p:spPr/>
        <p:txBody>
          <a:bodyPr/>
          <a:lstStyle/>
          <a:p>
            <a:r>
              <a:rPr lang="en-IN"/>
              <a:t>Dept. of ______, SVIT</a:t>
            </a:r>
          </a:p>
        </p:txBody>
      </p:sp>
      <p:sp>
        <p:nvSpPr>
          <p:cNvPr id="9" name="Slide Number Placeholder 8">
            <a:extLst>
              <a:ext uri="{FF2B5EF4-FFF2-40B4-BE49-F238E27FC236}">
                <a16:creationId xmlns:a16="http://schemas.microsoft.com/office/drawing/2014/main" id="{4355B576-5575-4E69-B6E4-9E57B9D2F829}"/>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3479328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694C7-1299-445A-AA80-727CB5D7746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BAFEBB1-AB4E-4C11-8BF5-42780D7191F1}"/>
              </a:ext>
            </a:extLst>
          </p:cNvPr>
          <p:cNvSpPr>
            <a:spLocks noGrp="1"/>
          </p:cNvSpPr>
          <p:nvPr>
            <p:ph type="dt" sz="half" idx="10"/>
          </p:nvPr>
        </p:nvSpPr>
        <p:spPr/>
        <p:txBody>
          <a:bodyPr/>
          <a:lstStyle/>
          <a:p>
            <a:fld id="{70AB5CCD-E46F-4BE0-8E64-C391ECAAEF38}" type="datetime1">
              <a:rPr lang="en-IN" smtClean="0"/>
              <a:t>01-12-2025</a:t>
            </a:fld>
            <a:endParaRPr lang="en-IN"/>
          </a:p>
        </p:txBody>
      </p:sp>
      <p:sp>
        <p:nvSpPr>
          <p:cNvPr id="4" name="Footer Placeholder 3">
            <a:extLst>
              <a:ext uri="{FF2B5EF4-FFF2-40B4-BE49-F238E27FC236}">
                <a16:creationId xmlns:a16="http://schemas.microsoft.com/office/drawing/2014/main" id="{7B09B511-6F76-4915-B1AF-732BCED70E7E}"/>
              </a:ext>
            </a:extLst>
          </p:cNvPr>
          <p:cNvSpPr>
            <a:spLocks noGrp="1"/>
          </p:cNvSpPr>
          <p:nvPr>
            <p:ph type="ftr" sz="quarter" idx="11"/>
          </p:nvPr>
        </p:nvSpPr>
        <p:spPr/>
        <p:txBody>
          <a:bodyPr/>
          <a:lstStyle/>
          <a:p>
            <a:r>
              <a:rPr lang="en-IN"/>
              <a:t>Dept. of ______, SVIT</a:t>
            </a:r>
          </a:p>
        </p:txBody>
      </p:sp>
      <p:sp>
        <p:nvSpPr>
          <p:cNvPr id="5" name="Slide Number Placeholder 4">
            <a:extLst>
              <a:ext uri="{FF2B5EF4-FFF2-40B4-BE49-F238E27FC236}">
                <a16:creationId xmlns:a16="http://schemas.microsoft.com/office/drawing/2014/main" id="{4F192E34-F782-4D15-B759-B5497A8BF2D5}"/>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306822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05FB1B-DD29-4A04-8996-FF05D89AF18F}"/>
              </a:ext>
            </a:extLst>
          </p:cNvPr>
          <p:cNvSpPr>
            <a:spLocks noGrp="1"/>
          </p:cNvSpPr>
          <p:nvPr>
            <p:ph type="dt" sz="half" idx="10"/>
          </p:nvPr>
        </p:nvSpPr>
        <p:spPr/>
        <p:txBody>
          <a:bodyPr/>
          <a:lstStyle/>
          <a:p>
            <a:fld id="{7C20BF48-132C-4263-9CA3-4BC324A17054}" type="datetime1">
              <a:rPr lang="en-IN" smtClean="0"/>
              <a:t>01-12-2025</a:t>
            </a:fld>
            <a:endParaRPr lang="en-IN"/>
          </a:p>
        </p:txBody>
      </p:sp>
      <p:sp>
        <p:nvSpPr>
          <p:cNvPr id="3" name="Footer Placeholder 2">
            <a:extLst>
              <a:ext uri="{FF2B5EF4-FFF2-40B4-BE49-F238E27FC236}">
                <a16:creationId xmlns:a16="http://schemas.microsoft.com/office/drawing/2014/main" id="{08A97D2F-E2A4-438D-A067-1493B899029D}"/>
              </a:ext>
            </a:extLst>
          </p:cNvPr>
          <p:cNvSpPr>
            <a:spLocks noGrp="1"/>
          </p:cNvSpPr>
          <p:nvPr>
            <p:ph type="ftr" sz="quarter" idx="11"/>
          </p:nvPr>
        </p:nvSpPr>
        <p:spPr/>
        <p:txBody>
          <a:bodyPr/>
          <a:lstStyle/>
          <a:p>
            <a:r>
              <a:rPr lang="en-IN"/>
              <a:t>Dept. of ______, SVIT</a:t>
            </a:r>
          </a:p>
        </p:txBody>
      </p:sp>
      <p:sp>
        <p:nvSpPr>
          <p:cNvPr id="4" name="Slide Number Placeholder 3">
            <a:extLst>
              <a:ext uri="{FF2B5EF4-FFF2-40B4-BE49-F238E27FC236}">
                <a16:creationId xmlns:a16="http://schemas.microsoft.com/office/drawing/2014/main" id="{82312123-8F85-4A48-9CA6-85E9B39ECE20}"/>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666982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EA615-E99F-4022-8C4A-E6A08ACB43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4442B3-6064-406D-9F3F-50D9E09533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52191BC-0005-4884-BCCC-5A71C16FEA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EEEA7A-68E2-4B62-A1FA-1FEAA4DFB6DA}"/>
              </a:ext>
            </a:extLst>
          </p:cNvPr>
          <p:cNvSpPr>
            <a:spLocks noGrp="1"/>
          </p:cNvSpPr>
          <p:nvPr>
            <p:ph type="dt" sz="half" idx="10"/>
          </p:nvPr>
        </p:nvSpPr>
        <p:spPr/>
        <p:txBody>
          <a:bodyPr/>
          <a:lstStyle/>
          <a:p>
            <a:fld id="{EB4728A2-48DF-4B79-B7B1-E981516DE34F}" type="datetime1">
              <a:rPr lang="en-IN" smtClean="0"/>
              <a:t>01-12-2025</a:t>
            </a:fld>
            <a:endParaRPr lang="en-IN"/>
          </a:p>
        </p:txBody>
      </p:sp>
      <p:sp>
        <p:nvSpPr>
          <p:cNvPr id="6" name="Footer Placeholder 5">
            <a:extLst>
              <a:ext uri="{FF2B5EF4-FFF2-40B4-BE49-F238E27FC236}">
                <a16:creationId xmlns:a16="http://schemas.microsoft.com/office/drawing/2014/main" id="{06DBF939-FF8D-453F-9C7E-3F780B57F398}"/>
              </a:ext>
            </a:extLst>
          </p:cNvPr>
          <p:cNvSpPr>
            <a:spLocks noGrp="1"/>
          </p:cNvSpPr>
          <p:nvPr>
            <p:ph type="ftr" sz="quarter" idx="11"/>
          </p:nvPr>
        </p:nvSpPr>
        <p:spPr/>
        <p:txBody>
          <a:bodyPr/>
          <a:lstStyle/>
          <a:p>
            <a:r>
              <a:rPr lang="en-IN"/>
              <a:t>Dept. of ______, SVIT</a:t>
            </a:r>
          </a:p>
        </p:txBody>
      </p:sp>
      <p:sp>
        <p:nvSpPr>
          <p:cNvPr id="7" name="Slide Number Placeholder 6">
            <a:extLst>
              <a:ext uri="{FF2B5EF4-FFF2-40B4-BE49-F238E27FC236}">
                <a16:creationId xmlns:a16="http://schemas.microsoft.com/office/drawing/2014/main" id="{D6A5CE44-831B-4CE4-AD71-4FC7845DD3A3}"/>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187039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8A633-FF1A-4A86-A554-A6866ECC67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53D6D8-2C0B-4D5F-A538-5C4283B768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2751E03C-A71C-4EDF-9F0C-AADD5BFFF1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FB9132-2CBC-4D34-B53D-FF70E594F93F}"/>
              </a:ext>
            </a:extLst>
          </p:cNvPr>
          <p:cNvSpPr>
            <a:spLocks noGrp="1"/>
          </p:cNvSpPr>
          <p:nvPr>
            <p:ph type="dt" sz="half" idx="10"/>
          </p:nvPr>
        </p:nvSpPr>
        <p:spPr/>
        <p:txBody>
          <a:bodyPr/>
          <a:lstStyle/>
          <a:p>
            <a:fld id="{EDCDBDF5-448C-4183-ABD6-97E78FC52418}" type="datetime1">
              <a:rPr lang="en-IN" smtClean="0"/>
              <a:t>01-12-2025</a:t>
            </a:fld>
            <a:endParaRPr lang="en-IN"/>
          </a:p>
        </p:txBody>
      </p:sp>
      <p:sp>
        <p:nvSpPr>
          <p:cNvPr id="6" name="Footer Placeholder 5">
            <a:extLst>
              <a:ext uri="{FF2B5EF4-FFF2-40B4-BE49-F238E27FC236}">
                <a16:creationId xmlns:a16="http://schemas.microsoft.com/office/drawing/2014/main" id="{DBC4237C-448B-4DA3-AE9C-AE059EAB5FBE}"/>
              </a:ext>
            </a:extLst>
          </p:cNvPr>
          <p:cNvSpPr>
            <a:spLocks noGrp="1"/>
          </p:cNvSpPr>
          <p:nvPr>
            <p:ph type="ftr" sz="quarter" idx="11"/>
          </p:nvPr>
        </p:nvSpPr>
        <p:spPr/>
        <p:txBody>
          <a:bodyPr/>
          <a:lstStyle/>
          <a:p>
            <a:r>
              <a:rPr lang="en-IN"/>
              <a:t>Dept. of ______, SVIT</a:t>
            </a:r>
          </a:p>
        </p:txBody>
      </p:sp>
      <p:sp>
        <p:nvSpPr>
          <p:cNvPr id="7" name="Slide Number Placeholder 6">
            <a:extLst>
              <a:ext uri="{FF2B5EF4-FFF2-40B4-BE49-F238E27FC236}">
                <a16:creationId xmlns:a16="http://schemas.microsoft.com/office/drawing/2014/main" id="{341FD285-1884-4757-A659-7563E433770D}"/>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288930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4E18C-8BD3-42B4-9F0B-B610C4FC587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87E2DC-2260-4096-9B2B-D248E6CCC0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DD32D5-0297-41A7-B9FC-F69982C13168}"/>
              </a:ext>
            </a:extLst>
          </p:cNvPr>
          <p:cNvSpPr>
            <a:spLocks noGrp="1"/>
          </p:cNvSpPr>
          <p:nvPr>
            <p:ph type="dt" sz="half" idx="10"/>
          </p:nvPr>
        </p:nvSpPr>
        <p:spPr/>
        <p:txBody>
          <a:bodyPr/>
          <a:lstStyle/>
          <a:p>
            <a:fld id="{F9D98149-4E64-4CD0-B6B5-D70506A16480}" type="datetime1">
              <a:rPr lang="en-IN" smtClean="0"/>
              <a:t>01-12-2025</a:t>
            </a:fld>
            <a:endParaRPr lang="en-IN"/>
          </a:p>
        </p:txBody>
      </p:sp>
      <p:sp>
        <p:nvSpPr>
          <p:cNvPr id="5" name="Footer Placeholder 4">
            <a:extLst>
              <a:ext uri="{FF2B5EF4-FFF2-40B4-BE49-F238E27FC236}">
                <a16:creationId xmlns:a16="http://schemas.microsoft.com/office/drawing/2014/main" id="{AB2F45B9-EA2C-4054-8820-FCADCEE81296}"/>
              </a:ext>
            </a:extLst>
          </p:cNvPr>
          <p:cNvSpPr>
            <a:spLocks noGrp="1"/>
          </p:cNvSpPr>
          <p:nvPr>
            <p:ph type="ftr" sz="quarter" idx="11"/>
          </p:nvPr>
        </p:nvSpPr>
        <p:spPr/>
        <p:txBody>
          <a:bodyPr/>
          <a:lstStyle/>
          <a:p>
            <a:r>
              <a:rPr lang="en-IN"/>
              <a:t>Dept. of ______, SVIT</a:t>
            </a:r>
          </a:p>
        </p:txBody>
      </p:sp>
      <p:sp>
        <p:nvSpPr>
          <p:cNvPr id="6" name="Slide Number Placeholder 5">
            <a:extLst>
              <a:ext uri="{FF2B5EF4-FFF2-40B4-BE49-F238E27FC236}">
                <a16:creationId xmlns:a16="http://schemas.microsoft.com/office/drawing/2014/main" id="{AE91BFEC-6A34-447C-A016-DCD1C22DD97A}"/>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1523103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43E80D-37D0-4A81-80CD-37785DE6A5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F62143-E21D-482E-A06D-6F37E88FF8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7BBA52-FF62-40F5-81B6-DBD727EB0A82}"/>
              </a:ext>
            </a:extLst>
          </p:cNvPr>
          <p:cNvSpPr>
            <a:spLocks noGrp="1"/>
          </p:cNvSpPr>
          <p:nvPr>
            <p:ph type="dt" sz="half" idx="10"/>
          </p:nvPr>
        </p:nvSpPr>
        <p:spPr/>
        <p:txBody>
          <a:bodyPr/>
          <a:lstStyle/>
          <a:p>
            <a:fld id="{574AF457-5260-4A87-8C19-E80A7EA22C63}" type="datetime1">
              <a:rPr lang="en-IN" smtClean="0"/>
              <a:t>01-12-2025</a:t>
            </a:fld>
            <a:endParaRPr lang="en-IN"/>
          </a:p>
        </p:txBody>
      </p:sp>
      <p:sp>
        <p:nvSpPr>
          <p:cNvPr id="5" name="Footer Placeholder 4">
            <a:extLst>
              <a:ext uri="{FF2B5EF4-FFF2-40B4-BE49-F238E27FC236}">
                <a16:creationId xmlns:a16="http://schemas.microsoft.com/office/drawing/2014/main" id="{BB2CDE25-2BBD-4C93-A912-D0062858D10D}"/>
              </a:ext>
            </a:extLst>
          </p:cNvPr>
          <p:cNvSpPr>
            <a:spLocks noGrp="1"/>
          </p:cNvSpPr>
          <p:nvPr>
            <p:ph type="ftr" sz="quarter" idx="11"/>
          </p:nvPr>
        </p:nvSpPr>
        <p:spPr/>
        <p:txBody>
          <a:bodyPr/>
          <a:lstStyle/>
          <a:p>
            <a:r>
              <a:rPr lang="en-IN"/>
              <a:t>Dept. of ______, SVIT</a:t>
            </a:r>
          </a:p>
        </p:txBody>
      </p:sp>
      <p:sp>
        <p:nvSpPr>
          <p:cNvPr id="6" name="Slide Number Placeholder 5">
            <a:extLst>
              <a:ext uri="{FF2B5EF4-FFF2-40B4-BE49-F238E27FC236}">
                <a16:creationId xmlns:a16="http://schemas.microsoft.com/office/drawing/2014/main" id="{BD0FCA15-45B3-493F-B198-49B81A80B971}"/>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3238414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CE65F1-B7B2-4401-8D3E-90BA7FBB99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5F2DFA-53EC-4E58-9868-0D1C5941EB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21C156-921C-4B6C-B347-41C3EBCE1A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F90384-E979-4C92-9DEA-6DE814E93B49}" type="datetime1">
              <a:rPr lang="en-IN" smtClean="0"/>
              <a:t>01-12-2025</a:t>
            </a:fld>
            <a:endParaRPr lang="en-IN"/>
          </a:p>
        </p:txBody>
      </p:sp>
      <p:sp>
        <p:nvSpPr>
          <p:cNvPr id="5" name="Footer Placeholder 4">
            <a:extLst>
              <a:ext uri="{FF2B5EF4-FFF2-40B4-BE49-F238E27FC236}">
                <a16:creationId xmlns:a16="http://schemas.microsoft.com/office/drawing/2014/main" id="{ED741EB9-BE5B-4FCE-8459-60A68128D7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______, SVIT</a:t>
            </a:r>
          </a:p>
        </p:txBody>
      </p:sp>
      <p:sp>
        <p:nvSpPr>
          <p:cNvPr id="6" name="Slide Number Placeholder 5">
            <a:extLst>
              <a:ext uri="{FF2B5EF4-FFF2-40B4-BE49-F238E27FC236}">
                <a16:creationId xmlns:a16="http://schemas.microsoft.com/office/drawing/2014/main" id="{903264B3-BCAF-4423-B5AB-31245A719D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9020A1-FA28-4834-83A8-C0CE35CB1668}" type="slidenum">
              <a:rPr lang="en-IN" smtClean="0"/>
              <a:pPr/>
              <a:t>‹#›</a:t>
            </a:fld>
            <a:endParaRPr lang="en-IN"/>
          </a:p>
        </p:txBody>
      </p:sp>
    </p:spTree>
    <p:extLst>
      <p:ext uri="{BB962C8B-B14F-4D97-AF65-F5344CB8AC3E}">
        <p14:creationId xmlns:p14="http://schemas.microsoft.com/office/powerpoint/2010/main" val="1672401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9D11E-1799-45FA-B0C6-7D6F2A6E14BC}"/>
              </a:ext>
            </a:extLst>
          </p:cNvPr>
          <p:cNvSpPr>
            <a:spLocks noGrp="1"/>
          </p:cNvSpPr>
          <p:nvPr>
            <p:ph type="ctrTitle"/>
          </p:nvPr>
        </p:nvSpPr>
        <p:spPr>
          <a:xfrm>
            <a:off x="-2" y="386597"/>
            <a:ext cx="12192000" cy="913827"/>
          </a:xfrm>
        </p:spPr>
        <p:txBody>
          <a:bodyPr>
            <a:normAutofit/>
          </a:bodyPr>
          <a:lstStyle/>
          <a:p>
            <a:r>
              <a:rPr lang="en-IN" sz="3600" b="1" dirty="0">
                <a:ln w="22225">
                  <a:solidFill>
                    <a:srgbClr val="C00000"/>
                  </a:solidFill>
                  <a:prstDash val="solid"/>
                </a:ln>
                <a:solidFill>
                  <a:srgbClr val="C00000"/>
                </a:solidFill>
                <a:latin typeface="+mn-lt"/>
                <a:cs typeface="Times New Roman" panose="02020603050405020304" pitchFamily="18" charset="0"/>
              </a:rPr>
              <a:t>EAST POINT COLLEGE OF ENGINEERING &amp; TECHNOLOGY</a:t>
            </a:r>
          </a:p>
        </p:txBody>
      </p:sp>
      <p:sp>
        <p:nvSpPr>
          <p:cNvPr id="5" name="TextBox 4">
            <a:extLst>
              <a:ext uri="{FF2B5EF4-FFF2-40B4-BE49-F238E27FC236}">
                <a16:creationId xmlns:a16="http://schemas.microsoft.com/office/drawing/2014/main" id="{FACE4605-4953-4CBB-B635-0B0762C43748}"/>
              </a:ext>
            </a:extLst>
          </p:cNvPr>
          <p:cNvSpPr txBox="1"/>
          <p:nvPr/>
        </p:nvSpPr>
        <p:spPr>
          <a:xfrm>
            <a:off x="1243668" y="3619136"/>
            <a:ext cx="10080824" cy="1631216"/>
          </a:xfrm>
          <a:prstGeom prst="rect">
            <a:avLst/>
          </a:prstGeom>
          <a:noFill/>
        </p:spPr>
        <p:txBody>
          <a:bodyPr wrap="square" rtlCol="0">
            <a:spAutoFit/>
          </a:bodyPr>
          <a:lstStyle/>
          <a:p>
            <a:pPr algn="ctr"/>
            <a:r>
              <a:rPr lang="en-US" sz="2800" b="1" dirty="0">
                <a:solidFill>
                  <a:srgbClr val="002060"/>
                </a:solidFill>
              </a:rPr>
              <a:t>Project Title: </a:t>
            </a:r>
            <a:r>
              <a:rPr lang="en-US" sz="2000" b="1" dirty="0">
                <a:solidFill>
                  <a:srgbClr val="002060"/>
                </a:solidFill>
              </a:rPr>
              <a:t>Smart Glove for Sign Language Translation and Gesture-Controlled Home Automation</a:t>
            </a:r>
            <a:endParaRPr lang="en-US" sz="2400" b="1" dirty="0">
              <a:solidFill>
                <a:srgbClr val="002060"/>
              </a:solidFill>
            </a:endParaRPr>
          </a:p>
          <a:p>
            <a:pPr algn="ctr"/>
            <a:r>
              <a:rPr lang="en-IN" sz="2400" b="1" dirty="0">
                <a:solidFill>
                  <a:srgbClr val="002060"/>
                </a:solidFill>
              </a:rPr>
              <a:t>“</a:t>
            </a:r>
            <a:r>
              <a:rPr lang="en-IN" sz="2400" b="1" dirty="0" err="1">
                <a:solidFill>
                  <a:srgbClr val="002060"/>
                </a:solidFill>
              </a:rPr>
              <a:t>SignRythm</a:t>
            </a:r>
            <a:r>
              <a:rPr lang="en-IN" sz="2400" b="1" dirty="0">
                <a:solidFill>
                  <a:srgbClr val="002060"/>
                </a:solidFill>
              </a:rPr>
              <a:t>”</a:t>
            </a:r>
          </a:p>
          <a:p>
            <a:pPr algn="ctr"/>
            <a:endParaRPr lang="en-IN" sz="2800" b="1" dirty="0">
              <a:solidFill>
                <a:srgbClr val="002060"/>
              </a:solidFill>
            </a:endParaRPr>
          </a:p>
        </p:txBody>
      </p:sp>
      <p:sp>
        <p:nvSpPr>
          <p:cNvPr id="6" name="TextBox 5">
            <a:extLst>
              <a:ext uri="{FF2B5EF4-FFF2-40B4-BE49-F238E27FC236}">
                <a16:creationId xmlns:a16="http://schemas.microsoft.com/office/drawing/2014/main" id="{842CF2DE-BB0C-4F8A-A1B5-9C68C76566B8}"/>
              </a:ext>
            </a:extLst>
          </p:cNvPr>
          <p:cNvSpPr txBox="1"/>
          <p:nvPr/>
        </p:nvSpPr>
        <p:spPr>
          <a:xfrm>
            <a:off x="442521" y="4826275"/>
            <a:ext cx="4141201" cy="1569660"/>
          </a:xfrm>
          <a:prstGeom prst="rect">
            <a:avLst/>
          </a:prstGeom>
          <a:noFill/>
        </p:spPr>
        <p:txBody>
          <a:bodyPr wrap="square" rtlCol="0">
            <a:spAutoFit/>
          </a:bodyPr>
          <a:lstStyle/>
          <a:p>
            <a:pPr algn="ctr"/>
            <a:r>
              <a:rPr lang="en-IN" sz="2400" b="1" dirty="0">
                <a:solidFill>
                  <a:srgbClr val="002060"/>
                </a:solidFill>
              </a:rPr>
              <a:t>By</a:t>
            </a:r>
          </a:p>
          <a:p>
            <a:pPr lvl="0"/>
            <a:r>
              <a:rPr lang="en-IN" b="1" dirty="0" err="1">
                <a:solidFill>
                  <a:srgbClr val="002060"/>
                </a:solidFill>
                <a:ea typeface="Calibri"/>
                <a:cs typeface="Calibri"/>
                <a:sym typeface="Calibri"/>
              </a:rPr>
              <a:t>Jayalaxmi</a:t>
            </a:r>
            <a:r>
              <a:rPr lang="en-IN" b="1" dirty="0">
                <a:solidFill>
                  <a:srgbClr val="002060"/>
                </a:solidFill>
                <a:ea typeface="Calibri"/>
                <a:cs typeface="Calibri"/>
                <a:sym typeface="Calibri"/>
              </a:rPr>
              <a:t>                - 1EP22IC024</a:t>
            </a:r>
          </a:p>
          <a:p>
            <a:pPr lvl="0"/>
            <a:r>
              <a:rPr lang="en-IN" b="1" dirty="0">
                <a:solidFill>
                  <a:srgbClr val="002060"/>
                </a:solidFill>
                <a:ea typeface="Calibri"/>
                <a:cs typeface="Calibri"/>
                <a:sym typeface="Calibri"/>
              </a:rPr>
              <a:t>Pavan Kumar H M - 1EP22IC039</a:t>
            </a:r>
          </a:p>
          <a:p>
            <a:r>
              <a:rPr lang="en-IN" b="1" dirty="0">
                <a:solidFill>
                  <a:srgbClr val="002060"/>
                </a:solidFill>
                <a:ea typeface="Calibri"/>
                <a:cs typeface="Calibri"/>
                <a:sym typeface="Calibri"/>
              </a:rPr>
              <a:t>Tanaya S                  - 1EP22IC055</a:t>
            </a:r>
          </a:p>
          <a:p>
            <a:r>
              <a:rPr lang="en-IN" b="1" dirty="0" err="1">
                <a:solidFill>
                  <a:srgbClr val="002060"/>
                </a:solidFill>
                <a:ea typeface="Calibri"/>
                <a:cs typeface="Calibri"/>
                <a:sym typeface="Calibri"/>
              </a:rPr>
              <a:t>Vaishnavi</a:t>
            </a:r>
            <a:r>
              <a:rPr lang="en-IN" b="1" dirty="0">
                <a:solidFill>
                  <a:srgbClr val="002060"/>
                </a:solidFill>
                <a:ea typeface="Calibri"/>
                <a:cs typeface="Calibri"/>
                <a:sym typeface="Calibri"/>
              </a:rPr>
              <a:t>                 - 1EP22IC058</a:t>
            </a:r>
          </a:p>
        </p:txBody>
      </p:sp>
      <p:sp>
        <p:nvSpPr>
          <p:cNvPr id="8" name="TextBox 7">
            <a:extLst>
              <a:ext uri="{FF2B5EF4-FFF2-40B4-BE49-F238E27FC236}">
                <a16:creationId xmlns:a16="http://schemas.microsoft.com/office/drawing/2014/main" id="{3E4D2BB2-F645-4614-9A42-33A44804E7A8}"/>
              </a:ext>
            </a:extLst>
          </p:cNvPr>
          <p:cNvSpPr txBox="1"/>
          <p:nvPr/>
        </p:nvSpPr>
        <p:spPr>
          <a:xfrm>
            <a:off x="0" y="-24402"/>
            <a:ext cx="12191999" cy="584775"/>
          </a:xfrm>
          <a:prstGeom prst="rect">
            <a:avLst/>
          </a:prstGeom>
          <a:solidFill>
            <a:srgbClr val="002060"/>
          </a:solidFill>
        </p:spPr>
        <p:txBody>
          <a:bodyPr wrap="square" rtlCol="0">
            <a:spAutoFit/>
          </a:bodyPr>
          <a:lstStyle/>
          <a:p>
            <a:pPr algn="ctr"/>
            <a:r>
              <a:rPr lang="en-IN" sz="3200" b="1" dirty="0">
                <a:solidFill>
                  <a:schemeClr val="bg1"/>
                </a:solidFill>
              </a:rPr>
              <a:t>Department of Computer Science and Engineering (</a:t>
            </a:r>
            <a:r>
              <a:rPr lang="en-IN" sz="3200" b="1" dirty="0" err="1">
                <a:solidFill>
                  <a:schemeClr val="bg1"/>
                </a:solidFill>
              </a:rPr>
              <a:t>IoT&amp;CSBT</a:t>
            </a:r>
            <a:r>
              <a:rPr lang="en-IN" sz="3200" b="1" dirty="0">
                <a:solidFill>
                  <a:schemeClr val="bg1"/>
                </a:solidFill>
              </a:rPr>
              <a:t>)</a:t>
            </a:r>
          </a:p>
        </p:txBody>
      </p:sp>
      <p:sp>
        <p:nvSpPr>
          <p:cNvPr id="10" name="TextBox 9">
            <a:extLst>
              <a:ext uri="{FF2B5EF4-FFF2-40B4-BE49-F238E27FC236}">
                <a16:creationId xmlns:a16="http://schemas.microsoft.com/office/drawing/2014/main" id="{5CDDFF03-671F-44F5-A1B6-42884E535C90}"/>
              </a:ext>
            </a:extLst>
          </p:cNvPr>
          <p:cNvSpPr txBox="1"/>
          <p:nvPr/>
        </p:nvSpPr>
        <p:spPr>
          <a:xfrm>
            <a:off x="0" y="3029586"/>
            <a:ext cx="12191998" cy="461665"/>
          </a:xfrm>
          <a:prstGeom prst="rect">
            <a:avLst/>
          </a:prstGeom>
          <a:solidFill>
            <a:schemeClr val="bg1"/>
          </a:solidFill>
        </p:spPr>
        <p:txBody>
          <a:bodyPr wrap="square" rtlCol="0">
            <a:spAutoFit/>
          </a:bodyPr>
          <a:lstStyle/>
          <a:p>
            <a:pPr algn="ctr"/>
            <a:r>
              <a:rPr lang="en-IN" sz="2400" b="1" dirty="0"/>
              <a:t>BIC786 - Project Presentation</a:t>
            </a:r>
          </a:p>
        </p:txBody>
      </p:sp>
      <p:pic>
        <p:nvPicPr>
          <p:cNvPr id="11" name="Picture 10"/>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499" y="1390457"/>
            <a:ext cx="19050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a:extLst>
              <a:ext uri="{FF2B5EF4-FFF2-40B4-BE49-F238E27FC236}">
                <a16:creationId xmlns:a16="http://schemas.microsoft.com/office/drawing/2014/main" id="{B54F4046-2247-4401-88D7-9C839B401B89}"/>
              </a:ext>
            </a:extLst>
          </p:cNvPr>
          <p:cNvSpPr txBox="1"/>
          <p:nvPr/>
        </p:nvSpPr>
        <p:spPr>
          <a:xfrm>
            <a:off x="6374512" y="4701128"/>
            <a:ext cx="5509847" cy="1815882"/>
          </a:xfrm>
          <a:prstGeom prst="rect">
            <a:avLst/>
          </a:prstGeom>
          <a:noFill/>
        </p:spPr>
        <p:txBody>
          <a:bodyPr wrap="square" rtlCol="0">
            <a:spAutoFit/>
          </a:bodyPr>
          <a:lstStyle/>
          <a:p>
            <a:r>
              <a:rPr lang="en-IN" sz="2000" b="1" dirty="0">
                <a:solidFill>
                  <a:srgbClr val="002060"/>
                </a:solidFill>
              </a:rPr>
              <a:t>Under the guidance of</a:t>
            </a:r>
          </a:p>
          <a:p>
            <a:r>
              <a:rPr lang="en-IN" b="1" dirty="0">
                <a:solidFill>
                  <a:srgbClr val="002060"/>
                </a:solidFill>
              </a:rPr>
              <a:t>Prof Jay Prakash Malviya, Assistant Prof, Dept of CSE(</a:t>
            </a:r>
            <a:r>
              <a:rPr lang="en-IN" b="1" dirty="0" err="1">
                <a:solidFill>
                  <a:srgbClr val="002060"/>
                </a:solidFill>
              </a:rPr>
              <a:t>IoT&amp;CSBT</a:t>
            </a:r>
            <a:r>
              <a:rPr lang="en-IN" b="1" dirty="0">
                <a:solidFill>
                  <a:srgbClr val="002060"/>
                </a:solidFill>
              </a:rPr>
              <a:t>)</a:t>
            </a:r>
            <a:endParaRPr lang="en-IN" sz="2400" b="1" dirty="0">
              <a:solidFill>
                <a:srgbClr val="002060"/>
              </a:solidFill>
            </a:endParaRPr>
          </a:p>
          <a:p>
            <a:r>
              <a:rPr lang="en-IN" sz="2000" b="1" dirty="0">
                <a:solidFill>
                  <a:srgbClr val="002060"/>
                </a:solidFill>
              </a:rPr>
              <a:t>Project Committee</a:t>
            </a:r>
          </a:p>
          <a:p>
            <a:r>
              <a:rPr lang="en-IN" b="1" dirty="0" err="1">
                <a:solidFill>
                  <a:srgbClr val="002060"/>
                </a:solidFill>
              </a:rPr>
              <a:t>Dr.</a:t>
            </a:r>
            <a:r>
              <a:rPr lang="en-IN" b="1" dirty="0">
                <a:solidFill>
                  <a:srgbClr val="002060"/>
                </a:solidFill>
              </a:rPr>
              <a:t> </a:t>
            </a:r>
            <a:r>
              <a:rPr lang="en-IN" b="1" dirty="0" err="1">
                <a:solidFill>
                  <a:srgbClr val="002060"/>
                </a:solidFill>
              </a:rPr>
              <a:t>Komala</a:t>
            </a:r>
            <a:r>
              <a:rPr lang="en-IN" b="1" dirty="0">
                <a:solidFill>
                  <a:srgbClr val="002060"/>
                </a:solidFill>
              </a:rPr>
              <a:t> C R, Professor, Dept. of CSE (</a:t>
            </a:r>
            <a:r>
              <a:rPr lang="en-IN" b="1" dirty="0" err="1">
                <a:solidFill>
                  <a:srgbClr val="002060"/>
                </a:solidFill>
              </a:rPr>
              <a:t>IoT&amp;CSBT</a:t>
            </a:r>
            <a:r>
              <a:rPr lang="en-IN" b="1" dirty="0">
                <a:solidFill>
                  <a:srgbClr val="002060"/>
                </a:solidFill>
              </a:rPr>
              <a:t>) </a:t>
            </a:r>
          </a:p>
          <a:p>
            <a:r>
              <a:rPr lang="en-IN" b="1" dirty="0" err="1">
                <a:solidFill>
                  <a:srgbClr val="002060"/>
                </a:solidFill>
              </a:rPr>
              <a:t>Dr.</a:t>
            </a:r>
            <a:r>
              <a:rPr lang="en-IN" b="1" dirty="0">
                <a:solidFill>
                  <a:srgbClr val="002060"/>
                </a:solidFill>
              </a:rPr>
              <a:t> Nanda Ashwin, Prof &amp; HOD, Dept. of CSE (</a:t>
            </a:r>
            <a:r>
              <a:rPr lang="en-IN" b="1" dirty="0" err="1">
                <a:solidFill>
                  <a:srgbClr val="002060"/>
                </a:solidFill>
              </a:rPr>
              <a:t>IoT&amp;CSBT</a:t>
            </a:r>
            <a:r>
              <a:rPr lang="en-IN" b="1" dirty="0">
                <a:solidFill>
                  <a:srgbClr val="002060"/>
                </a:solidFill>
              </a:rPr>
              <a:t>) </a:t>
            </a:r>
          </a:p>
        </p:txBody>
      </p:sp>
      <p:sp>
        <p:nvSpPr>
          <p:cNvPr id="3" name="Slide Number Placeholder 2">
            <a:extLst>
              <a:ext uri="{FF2B5EF4-FFF2-40B4-BE49-F238E27FC236}">
                <a16:creationId xmlns:a16="http://schemas.microsoft.com/office/drawing/2014/main" id="{FC3ED948-FAB7-2204-94B0-15E14274E4C4}"/>
              </a:ext>
            </a:extLst>
          </p:cNvPr>
          <p:cNvSpPr>
            <a:spLocks noGrp="1"/>
          </p:cNvSpPr>
          <p:nvPr>
            <p:ph type="sldNum" sz="quarter" idx="12"/>
          </p:nvPr>
        </p:nvSpPr>
        <p:spPr/>
        <p:txBody>
          <a:bodyPr/>
          <a:lstStyle/>
          <a:p>
            <a:r>
              <a:rPr lang="en-IN" dirty="0"/>
              <a:t>1</a:t>
            </a:r>
          </a:p>
        </p:txBody>
      </p:sp>
    </p:spTree>
    <p:extLst>
      <p:ext uri="{BB962C8B-B14F-4D97-AF65-F5344CB8AC3E}">
        <p14:creationId xmlns:p14="http://schemas.microsoft.com/office/powerpoint/2010/main" val="4114172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EF132-6DF6-4CA0-B333-B03D94DE9F9E}"/>
              </a:ext>
            </a:extLst>
          </p:cNvPr>
          <p:cNvSpPr>
            <a:spLocks noGrp="1"/>
          </p:cNvSpPr>
          <p:nvPr>
            <p:ph type="title"/>
          </p:nvPr>
        </p:nvSpPr>
        <p:spPr>
          <a:xfrm>
            <a:off x="0" y="0"/>
            <a:ext cx="9879291" cy="844197"/>
          </a:xfrm>
          <a:solidFill>
            <a:srgbClr val="002060"/>
          </a:solidFill>
        </p:spPr>
        <p:txBody>
          <a:bodyPr/>
          <a:lstStyle/>
          <a:p>
            <a:r>
              <a:rPr lang="en-IN" b="1" dirty="0">
                <a:ln>
                  <a:solidFill>
                    <a:schemeClr val="bg1"/>
                  </a:solidFill>
                </a:ln>
                <a:solidFill>
                  <a:schemeClr val="bg1"/>
                </a:solidFill>
                <a:latin typeface="Times New Roman" panose="02020603050405020304" pitchFamily="18" charset="0"/>
                <a:cs typeface="Times New Roman" panose="02020603050405020304" pitchFamily="18" charset="0"/>
              </a:rPr>
              <a:t>Presentation Outline</a:t>
            </a:r>
          </a:p>
        </p:txBody>
      </p:sp>
      <p:sp>
        <p:nvSpPr>
          <p:cNvPr id="3" name="Content Placeholder 2">
            <a:extLst>
              <a:ext uri="{FF2B5EF4-FFF2-40B4-BE49-F238E27FC236}">
                <a16:creationId xmlns:a16="http://schemas.microsoft.com/office/drawing/2014/main" id="{E6CDD646-3FD1-42E3-B283-E0E745697FFC}"/>
              </a:ext>
            </a:extLst>
          </p:cNvPr>
          <p:cNvSpPr>
            <a:spLocks noGrp="1"/>
          </p:cNvSpPr>
          <p:nvPr>
            <p:ph idx="1"/>
          </p:nvPr>
        </p:nvSpPr>
        <p:spPr>
          <a:xfrm>
            <a:off x="455710" y="1286975"/>
            <a:ext cx="10694890" cy="4732825"/>
          </a:xfrm>
        </p:spPr>
        <p:txBody>
          <a:bodyPr>
            <a:noAutofit/>
          </a:bodyPr>
          <a:lstStyle/>
          <a:p>
            <a:pPr lvl="0">
              <a:lnSpc>
                <a:spcPct val="150000"/>
              </a:lnSpc>
            </a:pPr>
            <a:r>
              <a:rPr lang="en-US" sz="2000" dirty="0">
                <a:latin typeface="Times New Roman" pitchFamily="18" charset="0"/>
                <a:cs typeface="Times New Roman" pitchFamily="18" charset="0"/>
              </a:rPr>
              <a:t>Design and Methodology.</a:t>
            </a:r>
          </a:p>
          <a:p>
            <a:pPr lvl="0">
              <a:lnSpc>
                <a:spcPct val="150000"/>
              </a:lnSpc>
            </a:pPr>
            <a:r>
              <a:rPr lang="en-US" sz="2000" dirty="0">
                <a:latin typeface="Times New Roman" pitchFamily="18" charset="0"/>
                <a:cs typeface="Times New Roman" pitchFamily="18" charset="0"/>
              </a:rPr>
              <a:t>Implementation of algorithm/techniques on project.</a:t>
            </a:r>
          </a:p>
          <a:p>
            <a:pPr lvl="0">
              <a:lnSpc>
                <a:spcPct val="150000"/>
              </a:lnSpc>
            </a:pPr>
            <a:r>
              <a:rPr lang="en-US" sz="2000" dirty="0">
                <a:latin typeface="Times New Roman" pitchFamily="18" charset="0"/>
                <a:cs typeface="Times New Roman" pitchFamily="18" charset="0"/>
              </a:rPr>
              <a:t>Integrity and ethical and legal implications and regulations.</a:t>
            </a:r>
          </a:p>
        </p:txBody>
      </p:sp>
      <p:sp>
        <p:nvSpPr>
          <p:cNvPr id="7" name="TextBox 6">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BIC786  - Project Presentation                                         </a:t>
            </a:r>
            <a:endParaRPr lang="en-IN" dirty="0">
              <a:ln>
                <a:solidFill>
                  <a:schemeClr val="bg1"/>
                </a:solidFill>
              </a:ln>
              <a:solidFill>
                <a:schemeClr val="bg1"/>
              </a:solidFill>
            </a:endParaRPr>
          </a:p>
        </p:txBody>
      </p:sp>
      <p:sp>
        <p:nvSpPr>
          <p:cNvPr id="4" name="Slide Number Placeholder 3">
            <a:extLst>
              <a:ext uri="{FF2B5EF4-FFF2-40B4-BE49-F238E27FC236}">
                <a16:creationId xmlns:a16="http://schemas.microsoft.com/office/drawing/2014/main" id="{39021681-5154-0264-2D8E-14B97923D877}"/>
              </a:ext>
            </a:extLst>
          </p:cNvPr>
          <p:cNvSpPr>
            <a:spLocks noGrp="1"/>
          </p:cNvSpPr>
          <p:nvPr>
            <p:ph type="sldNum" sz="quarter" idx="12"/>
          </p:nvPr>
        </p:nvSpPr>
        <p:spPr>
          <a:xfrm>
            <a:off x="9321800" y="6539657"/>
            <a:ext cx="2743200" cy="365125"/>
          </a:xfrm>
        </p:spPr>
        <p:txBody>
          <a:bodyPr/>
          <a:lstStyle/>
          <a:p>
            <a:r>
              <a:rPr lang="en-IN" sz="1800" dirty="0">
                <a:solidFill>
                  <a:schemeClr val="bg1"/>
                </a:solidFill>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424633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F47AA-6094-58BB-1735-8627A7C4E07D}"/>
              </a:ext>
            </a:extLst>
          </p:cNvPr>
          <p:cNvSpPr>
            <a:spLocks noGrp="1"/>
          </p:cNvSpPr>
          <p:nvPr>
            <p:ph type="title"/>
          </p:nvPr>
        </p:nvSpPr>
        <p:spPr>
          <a:xfrm>
            <a:off x="0" y="0"/>
            <a:ext cx="10515600" cy="1009651"/>
          </a:xfrm>
          <a:solidFill>
            <a:srgbClr val="002060"/>
          </a:solidFill>
        </p:spPr>
        <p:txBody>
          <a:bodyPr>
            <a:normAutofit/>
          </a:bodyPr>
          <a:lstStyle/>
          <a:p>
            <a:r>
              <a:rPr lang="en-US" b="1" dirty="0">
                <a:solidFill>
                  <a:schemeClr val="bg1"/>
                </a:solidFill>
                <a:latin typeface="Times New Roman" pitchFamily="18" charset="0"/>
                <a:cs typeface="Times New Roman" pitchFamily="18" charset="0"/>
              </a:rPr>
              <a:t>Design and methodology</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1CEE11-6F9C-DA91-2A8A-08A9536619B1}"/>
              </a:ext>
            </a:extLst>
          </p:cNvPr>
          <p:cNvSpPr>
            <a:spLocks noGrp="1"/>
          </p:cNvSpPr>
          <p:nvPr>
            <p:ph idx="1"/>
          </p:nvPr>
        </p:nvSpPr>
        <p:spPr/>
        <p:txBody>
          <a:bodyPr>
            <a:noAutofit/>
          </a:bodyPr>
          <a:lstStyle/>
          <a:p>
            <a:pPr marL="514350" indent="-514350">
              <a:lnSpc>
                <a:spcPct val="150000"/>
              </a:lnSpc>
              <a:buAutoNum type="arabicPeriod"/>
            </a:pPr>
            <a:r>
              <a:rPr lang="en-US" sz="2000" b="1" dirty="0">
                <a:latin typeface="Times New Roman" pitchFamily="18" charset="0"/>
                <a:cs typeface="Times New Roman" pitchFamily="18" charset="0"/>
              </a:rPr>
              <a:t>System Design</a:t>
            </a:r>
          </a:p>
          <a:p>
            <a:pPr marL="0" indent="0">
              <a:lnSpc>
                <a:spcPct val="100000"/>
              </a:lnSpc>
              <a:buNone/>
            </a:pPr>
            <a:r>
              <a:rPr lang="en-IN" sz="2000" dirty="0">
                <a:latin typeface="Times New Roman" pitchFamily="18" charset="0"/>
                <a:cs typeface="Times New Roman" pitchFamily="18" charset="0"/>
              </a:rPr>
              <a:t>Gesture and sign language recognition system using sensors, microcontroller, and output modules.</a:t>
            </a:r>
          </a:p>
          <a:p>
            <a:pPr marL="0" indent="0">
              <a:lnSpc>
                <a:spcPct val="100000"/>
              </a:lnSpc>
              <a:buNone/>
            </a:pPr>
            <a:r>
              <a:rPr lang="en-IN" sz="2000" dirty="0">
                <a:latin typeface="Times New Roman" pitchFamily="18" charset="0"/>
                <a:cs typeface="Times New Roman" pitchFamily="18" charset="0"/>
              </a:rPr>
              <a:t>Data flow: Hand gesture → Sensor input → Microcontroller processing → Output (text, speech, or device control).</a:t>
            </a:r>
          </a:p>
          <a:p>
            <a:pPr marL="0" indent="0">
              <a:lnSpc>
                <a:spcPct val="100000"/>
              </a:lnSpc>
              <a:buNone/>
            </a:pPr>
            <a:r>
              <a:rPr lang="en-IN" sz="2000" b="1" dirty="0">
                <a:latin typeface="Times New Roman" pitchFamily="18" charset="0"/>
                <a:cs typeface="Times New Roman" pitchFamily="18" charset="0"/>
              </a:rPr>
              <a:t>2.    Hardware Design</a:t>
            </a:r>
            <a:endParaRPr lang="en-IN" sz="2000" dirty="0">
              <a:latin typeface="Times New Roman" pitchFamily="18" charset="0"/>
              <a:cs typeface="Times New Roman" pitchFamily="18" charset="0"/>
            </a:endParaRPr>
          </a:p>
          <a:p>
            <a:pPr marL="0" indent="0">
              <a:lnSpc>
                <a:spcPct val="100000"/>
              </a:lnSpc>
            </a:pPr>
            <a:r>
              <a:rPr lang="en-IN" sz="2000" dirty="0">
                <a:latin typeface="Times New Roman" pitchFamily="18" charset="0"/>
                <a:cs typeface="Times New Roman" pitchFamily="18" charset="0"/>
              </a:rPr>
              <a:t> Accelerometer/gyroscope for hand orientation and motion.</a:t>
            </a:r>
          </a:p>
          <a:p>
            <a:pPr marL="0" indent="0">
              <a:lnSpc>
                <a:spcPct val="100000"/>
              </a:lnSpc>
            </a:pPr>
            <a:r>
              <a:rPr lang="en-IN" sz="2000" dirty="0">
                <a:latin typeface="Times New Roman" pitchFamily="18" charset="0"/>
                <a:cs typeface="Times New Roman" pitchFamily="18" charset="0"/>
              </a:rPr>
              <a:t> Microcontroller (</a:t>
            </a:r>
            <a:r>
              <a:rPr lang="en-IN" sz="2000" dirty="0" err="1">
                <a:latin typeface="Times New Roman" pitchFamily="18" charset="0"/>
                <a:cs typeface="Times New Roman" pitchFamily="18" charset="0"/>
              </a:rPr>
              <a:t>Arduino</a:t>
            </a:r>
            <a:r>
              <a:rPr lang="en-IN" sz="2000" dirty="0">
                <a:latin typeface="Times New Roman" pitchFamily="18" charset="0"/>
                <a:cs typeface="Times New Roman" pitchFamily="18" charset="0"/>
              </a:rPr>
              <a:t>/ESP32) for processing data.</a:t>
            </a:r>
          </a:p>
          <a:p>
            <a:pPr marL="0" indent="0">
              <a:lnSpc>
                <a:spcPct val="100000"/>
              </a:lnSpc>
            </a:pPr>
            <a:r>
              <a:rPr lang="en-IN" sz="2000" dirty="0">
                <a:latin typeface="Times New Roman" pitchFamily="18" charset="0"/>
                <a:cs typeface="Times New Roman" pitchFamily="18" charset="0"/>
              </a:rPr>
              <a:t> Output devices: LCD display, speaker, and relays for fan, light.</a:t>
            </a:r>
          </a:p>
        </p:txBody>
      </p:sp>
      <p:sp>
        <p:nvSpPr>
          <p:cNvPr id="4" name="Slide Number Placeholder 3">
            <a:extLst>
              <a:ext uri="{FF2B5EF4-FFF2-40B4-BE49-F238E27FC236}">
                <a16:creationId xmlns:a16="http://schemas.microsoft.com/office/drawing/2014/main" id="{89C669BC-9C28-58B0-A581-6882905FAA61}"/>
              </a:ext>
            </a:extLst>
          </p:cNvPr>
          <p:cNvSpPr>
            <a:spLocks noGrp="1"/>
          </p:cNvSpPr>
          <p:nvPr>
            <p:ph type="sldNum" sz="quarter" idx="12"/>
          </p:nvPr>
        </p:nvSpPr>
        <p:spPr>
          <a:xfrm>
            <a:off x="9448800" y="6492875"/>
            <a:ext cx="2743200" cy="365125"/>
          </a:xfrm>
        </p:spPr>
        <p:txBody>
          <a:bodyPr/>
          <a:lstStyle/>
          <a:p>
            <a:fld id="{249020A1-FA28-4834-83A8-C0CE35CB1668}" type="slidenum">
              <a:rPr lang="en-IN" sz="1800" smtClean="0">
                <a:solidFill>
                  <a:schemeClr val="bg1"/>
                </a:solidFill>
                <a:latin typeface="Times New Roman" panose="02020603050405020304" pitchFamily="18" charset="0"/>
                <a:cs typeface="Times New Roman" panose="02020603050405020304" pitchFamily="18" charset="0"/>
              </a:rPr>
              <a:pPr/>
              <a:t>3</a:t>
            </a:fld>
            <a:endParaRPr lang="en-IN" sz="1800" dirty="0">
              <a:solidFill>
                <a:schemeClr val="bg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522F138-6D29-C426-51F2-2A5043C48133}"/>
              </a:ext>
            </a:extLst>
          </p:cNvPr>
          <p:cNvPicPr>
            <a:picLocks noChangeAspect="1"/>
          </p:cNvPicPr>
          <p:nvPr/>
        </p:nvPicPr>
        <p:blipFill>
          <a:blip r:embed="rId2"/>
          <a:stretch>
            <a:fillRect/>
          </a:stretch>
        </p:blipFill>
        <p:spPr>
          <a:xfrm>
            <a:off x="0" y="6486144"/>
            <a:ext cx="12192000" cy="371856"/>
          </a:xfrm>
          <a:prstGeom prst="rect">
            <a:avLst/>
          </a:prstGeom>
        </p:spPr>
      </p:pic>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BIC786  - Project Presentation                                         3</a:t>
            </a:r>
            <a:endParaRPr lang="en-IN" dirty="0">
              <a:ln>
                <a:solidFill>
                  <a:schemeClr val="bg1"/>
                </a:solidFill>
              </a:ln>
              <a:solidFill>
                <a:schemeClr val="bg1"/>
              </a:solidFill>
            </a:endParaRPr>
          </a:p>
        </p:txBody>
      </p:sp>
    </p:spTree>
    <p:extLst>
      <p:ext uri="{BB962C8B-B14F-4D97-AF65-F5344CB8AC3E}">
        <p14:creationId xmlns:p14="http://schemas.microsoft.com/office/powerpoint/2010/main" val="628504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F87EA-2D6B-51C2-4746-88BA7E704DC5}"/>
              </a:ext>
            </a:extLst>
          </p:cNvPr>
          <p:cNvSpPr>
            <a:spLocks noGrp="1"/>
          </p:cNvSpPr>
          <p:nvPr>
            <p:ph type="title"/>
          </p:nvPr>
        </p:nvSpPr>
        <p:spPr>
          <a:xfrm>
            <a:off x="0" y="0"/>
            <a:ext cx="10515600" cy="807893"/>
          </a:xfrm>
          <a:solidFill>
            <a:srgbClr val="002060"/>
          </a:solidFill>
        </p:spPr>
        <p:txBody>
          <a:bodyPr/>
          <a:lstStyle/>
          <a:p>
            <a:r>
              <a:rPr lang="en-IN" b="1" dirty="0">
                <a:solidFill>
                  <a:schemeClr val="bg1"/>
                </a:solidFill>
                <a:latin typeface="Times New Roman" panose="02020603050405020304" pitchFamily="18" charset="0"/>
                <a:cs typeface="Times New Roman" panose="02020603050405020304" pitchFamily="18" charset="0"/>
              </a:rPr>
              <a:t>Design and methodology</a:t>
            </a:r>
          </a:p>
        </p:txBody>
      </p:sp>
      <p:sp>
        <p:nvSpPr>
          <p:cNvPr id="3" name="Content Placeholder 2">
            <a:extLst>
              <a:ext uri="{FF2B5EF4-FFF2-40B4-BE49-F238E27FC236}">
                <a16:creationId xmlns:a16="http://schemas.microsoft.com/office/drawing/2014/main" id="{2EE15D5A-D802-0126-4864-ABEAF404F102}"/>
              </a:ext>
            </a:extLst>
          </p:cNvPr>
          <p:cNvSpPr>
            <a:spLocks noGrp="1"/>
          </p:cNvSpPr>
          <p:nvPr>
            <p:ph idx="1"/>
          </p:nvPr>
        </p:nvSpPr>
        <p:spPr>
          <a:xfrm>
            <a:off x="838200" y="1471349"/>
            <a:ext cx="10515600" cy="4351338"/>
          </a:xfrm>
        </p:spPr>
        <p:txBody>
          <a:bodyPr>
            <a:normAutofit/>
          </a:bodyPr>
          <a:lstStyle/>
          <a:p>
            <a:pPr marL="0" indent="0">
              <a:lnSpc>
                <a:spcPct val="150000"/>
              </a:lnSpc>
              <a:buNone/>
            </a:pPr>
            <a:r>
              <a:rPr lang="en-IN" sz="2000" b="1" dirty="0">
                <a:latin typeface="Times New Roman" panose="02020603050405020304" pitchFamily="18" charset="0"/>
                <a:cs typeface="Times New Roman" panose="02020603050405020304" pitchFamily="18" charset="0"/>
              </a:rPr>
              <a:t>3.    Software Design</a:t>
            </a:r>
          </a:p>
          <a:p>
            <a:pPr marL="0" indent="0">
              <a:lnSpc>
                <a:spcPct val="150000"/>
              </a:lnSpc>
              <a:buNone/>
            </a:pPr>
            <a:r>
              <a:rPr lang="en-IN" sz="2000" dirty="0">
                <a:latin typeface="Times New Roman" panose="02020603050405020304" pitchFamily="18" charset="0"/>
                <a:cs typeface="Times New Roman" panose="02020603050405020304" pitchFamily="18" charset="0"/>
              </a:rPr>
              <a:t> Sensor calibration to map gestures accurately.</a:t>
            </a:r>
          </a:p>
          <a:p>
            <a:pPr marL="0" indent="0">
              <a:lnSpc>
                <a:spcPct val="150000"/>
              </a:lnSpc>
              <a:buNone/>
            </a:pPr>
            <a:r>
              <a:rPr lang="en-IN" sz="2000" dirty="0">
                <a:latin typeface="Times New Roman" panose="02020603050405020304" pitchFamily="18" charset="0"/>
                <a:cs typeface="Times New Roman" panose="02020603050405020304" pitchFamily="18" charset="0"/>
              </a:rPr>
              <a:t>Microcontroller programming for gesture recognition and command mapping.</a:t>
            </a:r>
          </a:p>
          <a:p>
            <a:pPr marL="0" indent="0">
              <a:lnSpc>
                <a:spcPct val="150000"/>
              </a:lnSpc>
              <a:buNone/>
            </a:pPr>
            <a:r>
              <a:rPr lang="en-IN" sz="2000" dirty="0">
                <a:latin typeface="Times New Roman" panose="02020603050405020304" pitchFamily="18" charset="0"/>
                <a:cs typeface="Times New Roman" panose="02020603050405020304" pitchFamily="18" charset="0"/>
              </a:rPr>
              <a:t>Output control algorithms for text/speech display and appliance operation.</a:t>
            </a:r>
          </a:p>
          <a:p>
            <a:pPr marL="0" indent="0">
              <a:lnSpc>
                <a:spcPct val="150000"/>
              </a:lnSpc>
              <a:buNone/>
            </a:pPr>
            <a:r>
              <a:rPr lang="en-IN" sz="2000" dirty="0">
                <a:latin typeface="Times New Roman" panose="02020603050405020304" pitchFamily="18" charset="0"/>
                <a:cs typeface="Times New Roman" panose="02020603050405020304" pitchFamily="18" charset="0"/>
              </a:rPr>
              <a:t>Optional: Mobile app or PC interface for enhanced visualization.</a:t>
            </a:r>
          </a:p>
        </p:txBody>
      </p:sp>
      <p:sp>
        <p:nvSpPr>
          <p:cNvPr id="4" name="Slide Number Placeholder 3">
            <a:extLst>
              <a:ext uri="{FF2B5EF4-FFF2-40B4-BE49-F238E27FC236}">
                <a16:creationId xmlns:a16="http://schemas.microsoft.com/office/drawing/2014/main" id="{C6748148-E902-B2D0-4531-9593B7EB1C7D}"/>
              </a:ext>
            </a:extLst>
          </p:cNvPr>
          <p:cNvSpPr>
            <a:spLocks noGrp="1"/>
          </p:cNvSpPr>
          <p:nvPr>
            <p:ph type="sldNum" sz="quarter" idx="12"/>
          </p:nvPr>
        </p:nvSpPr>
        <p:spPr>
          <a:xfrm>
            <a:off x="9448800" y="6492875"/>
            <a:ext cx="2743200" cy="365125"/>
          </a:xfrm>
        </p:spPr>
        <p:txBody>
          <a:bodyPr/>
          <a:lstStyle/>
          <a:p>
            <a:fld id="{249020A1-FA28-4834-83A8-C0CE35CB1668}" type="slidenum">
              <a:rPr lang="en-IN" sz="1800" smtClean="0">
                <a:solidFill>
                  <a:schemeClr val="bg1"/>
                </a:solidFill>
                <a:latin typeface="Times New Roman" panose="02020603050405020304" pitchFamily="18" charset="0"/>
                <a:cs typeface="Times New Roman" panose="02020603050405020304" pitchFamily="18" charset="0"/>
              </a:rPr>
              <a:pPr/>
              <a:t>4</a:t>
            </a:fld>
            <a:endParaRPr lang="en-IN" sz="1800" dirty="0">
              <a:solidFill>
                <a:schemeClr val="bg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AFE3522-FF55-94F1-9EF4-43862C6F0B36}"/>
              </a:ext>
            </a:extLst>
          </p:cNvPr>
          <p:cNvPicPr>
            <a:picLocks noChangeAspect="1"/>
          </p:cNvPicPr>
          <p:nvPr/>
        </p:nvPicPr>
        <p:blipFill>
          <a:blip r:embed="rId2"/>
          <a:stretch>
            <a:fillRect/>
          </a:stretch>
        </p:blipFill>
        <p:spPr>
          <a:xfrm>
            <a:off x="0" y="6516161"/>
            <a:ext cx="12192000" cy="371856"/>
          </a:xfrm>
          <a:prstGeom prst="rect">
            <a:avLst/>
          </a:prstGeom>
        </p:spPr>
      </p:pic>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BIC786  - Project Presentation                                         4</a:t>
            </a:r>
            <a:endParaRPr lang="en-IN" dirty="0">
              <a:ln>
                <a:solidFill>
                  <a:schemeClr val="bg1"/>
                </a:solidFill>
              </a:ln>
              <a:solidFill>
                <a:schemeClr val="bg1"/>
              </a:solidFill>
            </a:endParaRPr>
          </a:p>
        </p:txBody>
      </p:sp>
    </p:spTree>
    <p:extLst>
      <p:ext uri="{BB962C8B-B14F-4D97-AF65-F5344CB8AC3E}">
        <p14:creationId xmlns:p14="http://schemas.microsoft.com/office/powerpoint/2010/main" val="1213292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C280B-B08D-4054-35AA-749D679E52FC}"/>
              </a:ext>
            </a:extLst>
          </p:cNvPr>
          <p:cNvSpPr>
            <a:spLocks noGrp="1"/>
          </p:cNvSpPr>
          <p:nvPr>
            <p:ph type="title"/>
          </p:nvPr>
        </p:nvSpPr>
        <p:spPr>
          <a:xfrm>
            <a:off x="0" y="0"/>
            <a:ext cx="10515600" cy="932873"/>
          </a:xfrm>
          <a:solidFill>
            <a:srgbClr val="002060"/>
          </a:solidFill>
        </p:spPr>
        <p:txBody>
          <a:bodyPr>
            <a:normAutofit/>
          </a:bodyPr>
          <a:lstStyle/>
          <a:p>
            <a:r>
              <a:rPr lang="en-US" b="1" dirty="0">
                <a:solidFill>
                  <a:schemeClr val="bg1"/>
                </a:solidFill>
                <a:latin typeface="Times New Roman" pitchFamily="18" charset="0"/>
                <a:cs typeface="Times New Roman" pitchFamily="18" charset="0"/>
              </a:rPr>
              <a:t>Methodology</a:t>
            </a:r>
          </a:p>
        </p:txBody>
      </p:sp>
      <p:sp>
        <p:nvSpPr>
          <p:cNvPr id="4" name="Slide Number Placeholder 3">
            <a:extLst>
              <a:ext uri="{FF2B5EF4-FFF2-40B4-BE49-F238E27FC236}">
                <a16:creationId xmlns:a16="http://schemas.microsoft.com/office/drawing/2014/main" id="{E95F294C-ADC1-1100-0454-5CDFDFE54FD2}"/>
              </a:ext>
            </a:extLst>
          </p:cNvPr>
          <p:cNvSpPr>
            <a:spLocks noGrp="1"/>
          </p:cNvSpPr>
          <p:nvPr>
            <p:ph type="sldNum" sz="quarter" idx="12"/>
          </p:nvPr>
        </p:nvSpPr>
        <p:spPr>
          <a:xfrm>
            <a:off x="9436100" y="6570637"/>
            <a:ext cx="2743200" cy="365125"/>
          </a:xfrm>
        </p:spPr>
        <p:txBody>
          <a:bodyPr/>
          <a:lstStyle/>
          <a:p>
            <a:fld id="{249020A1-FA28-4834-83A8-C0CE35CB1668}" type="slidenum">
              <a:rPr lang="en-IN" sz="1800" smtClean="0">
                <a:solidFill>
                  <a:schemeClr val="bg1"/>
                </a:solidFill>
                <a:latin typeface="Times New Roman" panose="02020603050405020304" pitchFamily="18" charset="0"/>
                <a:cs typeface="Times New Roman" panose="02020603050405020304" pitchFamily="18" charset="0"/>
              </a:rPr>
              <a:pPr/>
              <a:t>5</a:t>
            </a:fld>
            <a:endParaRPr lang="en-IN" sz="1800"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BIC786  - Project Presentation                                         5</a:t>
            </a:r>
            <a:endParaRPr lang="en-IN" dirty="0">
              <a:ln>
                <a:solidFill>
                  <a:schemeClr val="bg1"/>
                </a:solidFill>
              </a:ln>
              <a:solidFill>
                <a:schemeClr val="bg1"/>
              </a:solidFill>
            </a:endParaRPr>
          </a:p>
        </p:txBody>
      </p:sp>
      <p:pic>
        <p:nvPicPr>
          <p:cNvPr id="9" name="Content Placeholder 8">
            <a:extLst>
              <a:ext uri="{FF2B5EF4-FFF2-40B4-BE49-F238E27FC236}">
                <a16:creationId xmlns:a16="http://schemas.microsoft.com/office/drawing/2014/main" id="{14A61EF9-16DB-4F17-B8D9-A753888FC0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66241" y="1391516"/>
            <a:ext cx="6527007" cy="4351338"/>
          </a:xfrm>
        </p:spPr>
      </p:pic>
    </p:spTree>
    <p:extLst>
      <p:ext uri="{BB962C8B-B14F-4D97-AF65-F5344CB8AC3E}">
        <p14:creationId xmlns:p14="http://schemas.microsoft.com/office/powerpoint/2010/main" val="1769966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6DF8C-2752-40E8-E354-1B5C5EA7975D}"/>
              </a:ext>
            </a:extLst>
          </p:cNvPr>
          <p:cNvSpPr>
            <a:spLocks noGrp="1"/>
          </p:cNvSpPr>
          <p:nvPr>
            <p:ph type="title"/>
          </p:nvPr>
        </p:nvSpPr>
        <p:spPr>
          <a:xfrm>
            <a:off x="0" y="4762"/>
            <a:ext cx="10515600" cy="955675"/>
          </a:xfrm>
          <a:solidFill>
            <a:srgbClr val="002060"/>
          </a:solidFill>
        </p:spPr>
        <p:txBody>
          <a:bodyPr/>
          <a:lstStyle/>
          <a:p>
            <a:r>
              <a:rPr lang="en-US" b="1" dirty="0">
                <a:solidFill>
                  <a:schemeClr val="bg1"/>
                </a:solidFill>
                <a:latin typeface="Times New Roman" pitchFamily="18" charset="0"/>
                <a:cs typeface="Times New Roman" pitchFamily="18" charset="0"/>
              </a:rPr>
              <a:t>Methodology</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6B9086-2096-FBCF-9DE3-8BF78B9A6B41}"/>
              </a:ext>
            </a:extLst>
          </p:cNvPr>
          <p:cNvSpPr>
            <a:spLocks noGrp="1"/>
          </p:cNvSpPr>
          <p:nvPr>
            <p:ph idx="1"/>
          </p:nvPr>
        </p:nvSpPr>
        <p:spPr>
          <a:xfrm>
            <a:off x="730828" y="1253331"/>
            <a:ext cx="10515600" cy="4351338"/>
          </a:xfrm>
        </p:spPr>
        <p:txBody>
          <a:bodyPr>
            <a:noAutofit/>
          </a:bodyPr>
          <a:lstStyle/>
          <a:p>
            <a:pPr marL="0" indent="0">
              <a:lnSpc>
                <a:spcPct val="150000"/>
              </a:lnSpc>
              <a:buNone/>
            </a:pPr>
            <a:endParaRPr lang="en-US" sz="2400" dirty="0">
              <a:latin typeface="Times New Roman" pitchFamily="18" charset="0"/>
              <a:cs typeface="Times New Roman" pitchFamily="18" charset="0"/>
            </a:endParaRPr>
          </a:p>
          <a:p>
            <a:pPr>
              <a:lnSpc>
                <a:spcPct val="150000"/>
              </a:lnSpc>
            </a:pPr>
            <a:endParaRPr lang="en-IN" sz="2400" dirty="0"/>
          </a:p>
        </p:txBody>
      </p:sp>
      <p:sp>
        <p:nvSpPr>
          <p:cNvPr id="4" name="Slide Number Placeholder 3">
            <a:extLst>
              <a:ext uri="{FF2B5EF4-FFF2-40B4-BE49-F238E27FC236}">
                <a16:creationId xmlns:a16="http://schemas.microsoft.com/office/drawing/2014/main" id="{493925A7-22B1-42AB-8EB4-D18A5AC8E776}"/>
              </a:ext>
            </a:extLst>
          </p:cNvPr>
          <p:cNvSpPr>
            <a:spLocks noGrp="1"/>
          </p:cNvSpPr>
          <p:nvPr>
            <p:ph type="sldNum" sz="quarter" idx="12"/>
          </p:nvPr>
        </p:nvSpPr>
        <p:spPr>
          <a:xfrm>
            <a:off x="9340273" y="6481382"/>
            <a:ext cx="2743200" cy="365125"/>
          </a:xfrm>
        </p:spPr>
        <p:txBody>
          <a:bodyPr/>
          <a:lstStyle/>
          <a:p>
            <a:fld id="{249020A1-FA28-4834-83A8-C0CE35CB1668}" type="slidenum">
              <a:rPr lang="en-IN" sz="1800" smtClean="0">
                <a:solidFill>
                  <a:schemeClr val="bg1"/>
                </a:solidFill>
                <a:latin typeface="Times New Roman" panose="02020603050405020304" pitchFamily="18" charset="0"/>
                <a:cs typeface="Times New Roman" panose="02020603050405020304" pitchFamily="18" charset="0"/>
              </a:rPr>
              <a:pPr/>
              <a:t>6</a:t>
            </a:fld>
            <a:endParaRPr lang="en-IN" sz="18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2F7E767-EF91-E299-056B-4B4ED50C083A}"/>
              </a:ext>
            </a:extLst>
          </p:cNvPr>
          <p:cNvSpPr txBox="1"/>
          <p:nvPr/>
        </p:nvSpPr>
        <p:spPr>
          <a:xfrm>
            <a:off x="1126837" y="1183004"/>
            <a:ext cx="9388764" cy="2862322"/>
          </a:xfrm>
          <a:prstGeom prst="rect">
            <a:avLst/>
          </a:prstGeom>
          <a:noFill/>
        </p:spPr>
        <p:txBody>
          <a:bodyPr wrap="square">
            <a:spAutoFit/>
          </a:bodyPr>
          <a:lstStyle/>
          <a:p>
            <a:r>
              <a:rPr lang="en-IN" dirty="0"/>
              <a:t> </a:t>
            </a:r>
            <a:r>
              <a:rPr lang="en-IN" b="1" dirty="0">
                <a:latin typeface="Times New Roman" panose="02020603050405020304" pitchFamily="18" charset="0"/>
                <a:cs typeface="Times New Roman" panose="02020603050405020304" pitchFamily="18" charset="0"/>
              </a:rPr>
              <a:t>Step Description</a:t>
            </a:r>
          </a:p>
          <a:p>
            <a:pPr marL="342900" indent="-342900"/>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 Gesture Input – User performs a hand/gesture captured by sensors.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Signal Processing – Raw signals are filtered and converted into usable data.</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Gesture Classification – Data is analyzed and matched with predefined gestures.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Output – Classified gesture is used either for Text-to-Speech (sign translation) or Home Automation (ON,OFF).</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BIC786  - Project Presentation                                         6</a:t>
            </a:r>
            <a:endParaRPr lang="en-IN" dirty="0">
              <a:ln>
                <a:solidFill>
                  <a:schemeClr val="bg1"/>
                </a:solidFill>
              </a:ln>
              <a:solidFill>
                <a:schemeClr val="bg1"/>
              </a:solidFill>
            </a:endParaRPr>
          </a:p>
        </p:txBody>
      </p:sp>
    </p:spTree>
    <p:extLst>
      <p:ext uri="{BB962C8B-B14F-4D97-AF65-F5344CB8AC3E}">
        <p14:creationId xmlns:p14="http://schemas.microsoft.com/office/powerpoint/2010/main" val="2687702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104E-C8D4-F16D-BD3B-E66FD29BBD2E}"/>
              </a:ext>
            </a:extLst>
          </p:cNvPr>
          <p:cNvSpPr>
            <a:spLocks noGrp="1"/>
          </p:cNvSpPr>
          <p:nvPr>
            <p:ph type="title"/>
          </p:nvPr>
        </p:nvSpPr>
        <p:spPr>
          <a:xfrm>
            <a:off x="0" y="0"/>
            <a:ext cx="10515600" cy="844839"/>
          </a:xfrm>
          <a:solidFill>
            <a:srgbClr val="002060"/>
          </a:solidFill>
        </p:spPr>
        <p:txBody>
          <a:bodyPr>
            <a:normAutofit/>
          </a:bodyPr>
          <a:lstStyle/>
          <a:p>
            <a:r>
              <a:rPr lang="en-US" b="1" dirty="0">
                <a:solidFill>
                  <a:schemeClr val="bg1"/>
                </a:solidFill>
                <a:latin typeface="Times New Roman" pitchFamily="18" charset="0"/>
                <a:cs typeface="Times New Roman" pitchFamily="18" charset="0"/>
              </a:rPr>
              <a:t>Methodology</a:t>
            </a:r>
            <a:endParaRPr lang="en-IN" b="1" dirty="0">
              <a:solidFill>
                <a:schemeClr val="bg1"/>
              </a:solidFill>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982E9A28-91E9-DBAA-687B-FDCE31972302}"/>
              </a:ext>
            </a:extLst>
          </p:cNvPr>
          <p:cNvSpPr>
            <a:spLocks noGrp="1"/>
          </p:cNvSpPr>
          <p:nvPr>
            <p:ph idx="1"/>
          </p:nvPr>
        </p:nvSpPr>
        <p:spPr>
          <a:xfrm>
            <a:off x="812800" y="1283855"/>
            <a:ext cx="10515600" cy="3915207"/>
          </a:xfrm>
        </p:spPr>
        <p:txBody>
          <a:bodyPr>
            <a:noAutofit/>
          </a:bodyPr>
          <a:lstStyle/>
          <a:p>
            <a:pPr>
              <a:lnSpc>
                <a:spcPct val="120000"/>
              </a:lnSpc>
              <a:buNone/>
            </a:pPr>
            <a:r>
              <a:rPr lang="en-US" sz="2400" dirty="0">
                <a:latin typeface="Times New Roman" pitchFamily="18" charset="0"/>
                <a:cs typeface="Times New Roman" pitchFamily="18" charset="0"/>
              </a:rPr>
              <a:t> </a:t>
            </a:r>
            <a:r>
              <a:rPr lang="en-US" sz="2000" b="1" dirty="0">
                <a:latin typeface="Times New Roman" pitchFamily="18" charset="0"/>
                <a:cs typeface="Times New Roman" pitchFamily="18" charset="0"/>
              </a:rPr>
              <a:t>Workflow Summary</a:t>
            </a:r>
          </a:p>
          <a:p>
            <a:pPr>
              <a:lnSpc>
                <a:spcPct val="120000"/>
              </a:lnSpc>
              <a:buNone/>
            </a:pPr>
            <a:r>
              <a:rPr lang="en-US" sz="2000" dirty="0">
                <a:latin typeface="Times New Roman" pitchFamily="18" charset="0"/>
                <a:cs typeface="Times New Roman" pitchFamily="18" charset="0"/>
              </a:rPr>
              <a:t>    The workflow of the proposed system begins with the smart glove’s ADXL345 sensor capturing hand gestures and sending the raw motion data to the Arduino microcontroller. The controller preprocesses the incoming values and classifies the gesture into a specific command. The decision logic then interprets whether the gesture corresponds to a communication message or a home automation function. If it is a communication gesture, the system displays the message on the LCD and plays the corresponding audio through the </a:t>
            </a:r>
            <a:r>
              <a:rPr lang="en-US" sz="2000" dirty="0" err="1">
                <a:latin typeface="Times New Roman" panose="02020603050405020304" pitchFamily="18" charset="0"/>
                <a:cs typeface="Times New Roman" panose="02020603050405020304" pitchFamily="18" charset="0"/>
              </a:rPr>
              <a:t>DFPlayer</a:t>
            </a:r>
            <a:r>
              <a:rPr lang="en-US" sz="2000" dirty="0">
                <a:latin typeface="Times New Roman" panose="02020603050405020304" pitchFamily="18" charset="0"/>
                <a:cs typeface="Times New Roman" panose="02020603050405020304" pitchFamily="18" charset="0"/>
              </a:rPr>
              <a:t> Mini. If it is a control gesture, the Arduino activates the relay modules to operate home appliances such as lights and fans.</a:t>
            </a:r>
            <a:br>
              <a:rPr lang="en-US" sz="2000" dirty="0">
                <a:latin typeface="Times New Roman" panose="02020603050405020304" pitchFamily="18" charset="0"/>
                <a:cs typeface="Times New Roman" pitchFamily="18" charset="0"/>
              </a:rPr>
            </a:br>
            <a:endParaRPr lang="en-US" sz="2000" dirty="0">
              <a:latin typeface="Times New Roman" panose="02020603050405020304" pitchFamily="18" charset="0"/>
              <a:cs typeface="Times New Roman" pitchFamily="18" charset="0"/>
            </a:endParaRPr>
          </a:p>
        </p:txBody>
      </p:sp>
      <p:sp>
        <p:nvSpPr>
          <p:cNvPr id="4" name="Slide Number Placeholder 3">
            <a:extLst>
              <a:ext uri="{FF2B5EF4-FFF2-40B4-BE49-F238E27FC236}">
                <a16:creationId xmlns:a16="http://schemas.microsoft.com/office/drawing/2014/main" id="{D00DBEDD-F45E-9DDD-1490-3E1B7B03C9A4}"/>
              </a:ext>
            </a:extLst>
          </p:cNvPr>
          <p:cNvSpPr>
            <a:spLocks noGrp="1"/>
          </p:cNvSpPr>
          <p:nvPr>
            <p:ph type="sldNum" sz="quarter" idx="12"/>
          </p:nvPr>
        </p:nvSpPr>
        <p:spPr>
          <a:xfrm>
            <a:off x="9303327" y="6492875"/>
            <a:ext cx="2743200" cy="365125"/>
          </a:xfrm>
        </p:spPr>
        <p:txBody>
          <a:bodyPr/>
          <a:lstStyle/>
          <a:p>
            <a:fld id="{249020A1-FA28-4834-83A8-C0CE35CB1668}" type="slidenum">
              <a:rPr lang="en-IN" sz="1800" smtClean="0">
                <a:solidFill>
                  <a:schemeClr val="bg1"/>
                </a:solidFill>
                <a:latin typeface="Times New Roman" panose="02020603050405020304" pitchFamily="18" charset="0"/>
                <a:cs typeface="Times New Roman" panose="02020603050405020304" pitchFamily="18" charset="0"/>
              </a:rPr>
              <a:pPr/>
              <a:t>7</a:t>
            </a:fld>
            <a:endParaRPr lang="en-IN" sz="18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BIC786  - Project Presentation                                         7</a:t>
            </a:r>
            <a:endParaRPr lang="en-IN" dirty="0">
              <a:ln>
                <a:solidFill>
                  <a:schemeClr val="bg1"/>
                </a:solidFill>
              </a:ln>
              <a:solidFill>
                <a:schemeClr val="bg1"/>
              </a:solidFill>
            </a:endParaRPr>
          </a:p>
        </p:txBody>
      </p:sp>
    </p:spTree>
    <p:extLst>
      <p:ext uri="{BB962C8B-B14F-4D97-AF65-F5344CB8AC3E}">
        <p14:creationId xmlns:p14="http://schemas.microsoft.com/office/powerpoint/2010/main" val="926217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11A32-81A6-BE15-0329-6CDFE850087A}"/>
              </a:ext>
            </a:extLst>
          </p:cNvPr>
          <p:cNvSpPr>
            <a:spLocks noGrp="1"/>
          </p:cNvSpPr>
          <p:nvPr>
            <p:ph type="title"/>
          </p:nvPr>
        </p:nvSpPr>
        <p:spPr>
          <a:xfrm>
            <a:off x="0" y="0"/>
            <a:ext cx="10515600" cy="863311"/>
          </a:xfrm>
          <a:solidFill>
            <a:srgbClr val="002060"/>
          </a:solidFill>
        </p:spPr>
        <p:txBody>
          <a:bodyPr/>
          <a:lstStyle/>
          <a:p>
            <a:r>
              <a:rPr lang="en-US" b="1" dirty="0">
                <a:solidFill>
                  <a:schemeClr val="bg1"/>
                </a:solidFill>
                <a:latin typeface="Times New Roman" pitchFamily="18" charset="0"/>
                <a:cs typeface="Times New Roman" pitchFamily="18" charset="0"/>
              </a:rPr>
              <a:t>Implementation technique</a:t>
            </a:r>
            <a:endParaRPr lang="en-IN"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295202F-21FF-E03D-3909-1BB4C54B19D3}"/>
              </a:ext>
            </a:extLst>
          </p:cNvPr>
          <p:cNvSpPr>
            <a:spLocks noGrp="1"/>
          </p:cNvSpPr>
          <p:nvPr>
            <p:ph idx="1"/>
          </p:nvPr>
        </p:nvSpPr>
        <p:spPr>
          <a:xfrm>
            <a:off x="653473" y="1099127"/>
            <a:ext cx="10515600" cy="5523346"/>
          </a:xfrm>
        </p:spPr>
        <p:txBody>
          <a:bodyPr>
            <a:normAutofit/>
          </a:bodyPr>
          <a:lstStyle/>
          <a:p>
            <a:pPr marL="514350" indent="-514350" algn="just">
              <a:lnSpc>
                <a:spcPct val="150000"/>
              </a:lnSpc>
              <a:buAutoNum type="arabicPeriod"/>
            </a:pPr>
            <a:r>
              <a:rPr lang="en-US" sz="2000" b="1" dirty="0">
                <a:latin typeface="Times New Roman" pitchFamily="18" charset="0"/>
                <a:cs typeface="Times New Roman" pitchFamily="18" charset="0"/>
              </a:rPr>
              <a:t>Sensor-Based Gesture Detection.</a:t>
            </a:r>
          </a:p>
          <a:p>
            <a:pPr marL="514350" indent="-514350" algn="just">
              <a:lnSpc>
                <a:spcPct val="150000"/>
              </a:lnSpc>
              <a:buAutoNum type="arabicPeriod"/>
            </a:pPr>
            <a:r>
              <a:rPr lang="en-US" sz="2000" b="1" dirty="0">
                <a:latin typeface="Times New Roman" pitchFamily="18" charset="0"/>
                <a:cs typeface="Times New Roman" pitchFamily="18" charset="0"/>
              </a:rPr>
              <a:t>Microcontroller-Based Decision Processing.</a:t>
            </a:r>
          </a:p>
          <a:p>
            <a:pPr marL="514350" indent="-514350" algn="just">
              <a:lnSpc>
                <a:spcPct val="150000"/>
              </a:lnSpc>
              <a:buAutoNum type="arabicPeriod"/>
            </a:pPr>
            <a:r>
              <a:rPr lang="en-US" sz="2000" b="1" dirty="0">
                <a:latin typeface="Times New Roman" pitchFamily="18" charset="0"/>
                <a:cs typeface="Times New Roman" pitchFamily="18" charset="0"/>
              </a:rPr>
              <a:t>Relay-Driven Appliance Control.</a:t>
            </a:r>
          </a:p>
          <a:p>
            <a:pPr marL="514350" indent="-514350" algn="just">
              <a:lnSpc>
                <a:spcPct val="150000"/>
              </a:lnSpc>
              <a:buAutoNum type="arabicPeriod"/>
            </a:pPr>
            <a:r>
              <a:rPr lang="en-US" sz="2000" b="1" dirty="0">
                <a:latin typeface="Times New Roman" pitchFamily="18" charset="0"/>
                <a:cs typeface="Times New Roman" pitchFamily="18" charset="0"/>
              </a:rPr>
              <a:t>Voice Feedback Implementation.</a:t>
            </a:r>
          </a:p>
          <a:p>
            <a:pPr marL="514350" indent="-514350" algn="just">
              <a:lnSpc>
                <a:spcPct val="150000"/>
              </a:lnSpc>
              <a:buAutoNum type="arabicPeriod"/>
            </a:pPr>
            <a:r>
              <a:rPr lang="en-US" sz="2000" b="1" dirty="0">
                <a:latin typeface="Times New Roman" pitchFamily="18" charset="0"/>
                <a:cs typeface="Times New Roman" pitchFamily="18" charset="0"/>
              </a:rPr>
              <a:t>LCD Status Display Integration</a:t>
            </a:r>
          </a:p>
          <a:p>
            <a:pPr marL="514350" indent="-514350" algn="just">
              <a:lnSpc>
                <a:spcPct val="150000"/>
              </a:lnSpc>
              <a:buAutoNum type="arabicPeriod"/>
            </a:pPr>
            <a:r>
              <a:rPr lang="en-US" sz="2000" b="1" dirty="0">
                <a:latin typeface="Times New Roman" pitchFamily="18" charset="0"/>
                <a:cs typeface="Times New Roman" pitchFamily="18" charset="0"/>
              </a:rPr>
              <a:t>Power Management and Safety Measures</a:t>
            </a:r>
          </a:p>
          <a:p>
            <a:pPr marL="514350" indent="-514350" algn="just">
              <a:lnSpc>
                <a:spcPct val="150000"/>
              </a:lnSpc>
              <a:buAutoNum type="arabicPeriod"/>
            </a:pPr>
            <a:r>
              <a:rPr lang="en-US" sz="2000" b="1" dirty="0">
                <a:latin typeface="Times New Roman" pitchFamily="18" charset="0"/>
                <a:cs typeface="Times New Roman" pitchFamily="18" charset="0"/>
              </a:rPr>
              <a:t>System Testing and Calibration.</a:t>
            </a:r>
          </a:p>
          <a:p>
            <a:pPr marL="514350" indent="-514350" algn="just">
              <a:lnSpc>
                <a:spcPct val="150000"/>
              </a:lnSpc>
              <a:buAutoNum type="arabicPeriod"/>
            </a:pPr>
            <a:endParaRPr lang="en-US" sz="2000" b="1" dirty="0">
              <a:latin typeface="Times New Roman" pitchFamily="18" charset="0"/>
              <a:cs typeface="Times New Roman" pitchFamily="18" charset="0"/>
            </a:endParaRPr>
          </a:p>
          <a:p>
            <a:pPr marL="514350" indent="-514350" algn="just">
              <a:lnSpc>
                <a:spcPct val="150000"/>
              </a:lnSpc>
              <a:buAutoNum type="arabicPeriod"/>
            </a:pPr>
            <a:endParaRPr lang="en-US" sz="3200" b="1" dirty="0">
              <a:latin typeface="Times New Roman" panose="02020603050405020304" pitchFamily="18" charset="0"/>
              <a:cs typeface="Times New Roman" panose="02020603050405020304" pitchFamily="18" charset="0"/>
            </a:endParaRPr>
          </a:p>
          <a:p>
            <a:pPr marL="514350" indent="-514350" algn="just">
              <a:lnSpc>
                <a:spcPct val="150000"/>
              </a:lnSpc>
              <a:buAutoNum type="arabicPeriod"/>
            </a:pPr>
            <a:endParaRPr lang="en-US" sz="3200" b="1" dirty="0">
              <a:latin typeface="Times New Roman" panose="02020603050405020304" pitchFamily="18" charset="0"/>
              <a:cs typeface="Times New Roman" panose="02020603050405020304" pitchFamily="18" charset="0"/>
            </a:endParaRPr>
          </a:p>
          <a:p>
            <a:pPr marL="514350" indent="-514350" algn="just">
              <a:lnSpc>
                <a:spcPct val="150000"/>
              </a:lnSpc>
              <a:buAutoNum type="arabicPeriod"/>
            </a:pPr>
            <a:endParaRPr lang="en-US" sz="3200" b="1" dirty="0">
              <a:latin typeface="Times New Roman" panose="02020603050405020304" pitchFamily="18" charset="0"/>
              <a:cs typeface="Times New Roman" panose="02020603050405020304" pitchFamily="18" charset="0"/>
            </a:endParaRPr>
          </a:p>
          <a:p>
            <a:pPr marL="514350" indent="-514350" algn="just">
              <a:lnSpc>
                <a:spcPct val="150000"/>
              </a:lnSpc>
              <a:buAutoNum type="arabicPeriod"/>
            </a:pPr>
            <a:endParaRPr lang="en-US" sz="3200"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0F202373-D297-CA38-FC3E-BA53E783FFE8}"/>
              </a:ext>
            </a:extLst>
          </p:cNvPr>
          <p:cNvSpPr>
            <a:spLocks noGrp="1"/>
          </p:cNvSpPr>
          <p:nvPr>
            <p:ph type="sldNum" sz="quarter" idx="12"/>
          </p:nvPr>
        </p:nvSpPr>
        <p:spPr>
          <a:xfrm>
            <a:off x="9146308" y="6492875"/>
            <a:ext cx="2971801" cy="365125"/>
          </a:xfrm>
        </p:spPr>
        <p:txBody>
          <a:bodyPr/>
          <a:lstStyle/>
          <a:p>
            <a:fld id="{249020A1-FA28-4834-83A8-C0CE35CB1668}" type="slidenum">
              <a:rPr lang="en-IN" sz="1800" smtClean="0">
                <a:solidFill>
                  <a:schemeClr val="bg1"/>
                </a:solidFill>
                <a:latin typeface="Times New Roman" panose="02020603050405020304" pitchFamily="18" charset="0"/>
                <a:cs typeface="Times New Roman" panose="02020603050405020304" pitchFamily="18" charset="0"/>
              </a:rPr>
              <a:pPr/>
              <a:t>8</a:t>
            </a:fld>
            <a:endParaRPr lang="en-IN" sz="18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BIC786  - Project Presentation                                         8</a:t>
            </a:r>
            <a:endParaRPr lang="en-IN" dirty="0">
              <a:ln>
                <a:solidFill>
                  <a:schemeClr val="bg1"/>
                </a:solidFill>
              </a:ln>
              <a:solidFill>
                <a:schemeClr val="bg1"/>
              </a:solidFill>
            </a:endParaRPr>
          </a:p>
        </p:txBody>
      </p:sp>
    </p:spTree>
    <p:extLst>
      <p:ext uri="{BB962C8B-B14F-4D97-AF65-F5344CB8AC3E}">
        <p14:creationId xmlns:p14="http://schemas.microsoft.com/office/powerpoint/2010/main" val="152171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CACBF8-100C-3366-8F59-A3605AB14D06}"/>
              </a:ext>
            </a:extLst>
          </p:cNvPr>
          <p:cNvSpPr>
            <a:spLocks noGrp="1"/>
          </p:cNvSpPr>
          <p:nvPr>
            <p:ph type="sldNum" sz="quarter" idx="12"/>
          </p:nvPr>
        </p:nvSpPr>
        <p:spPr/>
        <p:txBody>
          <a:bodyPr/>
          <a:lstStyle/>
          <a:p>
            <a:fld id="{249020A1-FA28-4834-83A8-C0CE35CB1668}" type="slidenum">
              <a:rPr lang="en-IN" smtClean="0"/>
              <a:pPr/>
              <a:t>9</a:t>
            </a:fld>
            <a:endParaRPr lang="en-IN"/>
          </a:p>
        </p:txBody>
      </p:sp>
      <p:sp>
        <p:nvSpPr>
          <p:cNvPr id="9" name="Rectangle 8">
            <a:extLst>
              <a:ext uri="{FF2B5EF4-FFF2-40B4-BE49-F238E27FC236}">
                <a16:creationId xmlns:a16="http://schemas.microsoft.com/office/drawing/2014/main" id="{5CBB557C-BC47-9473-A404-90DD4E301B27}"/>
              </a:ext>
            </a:extLst>
          </p:cNvPr>
          <p:cNvSpPr/>
          <p:nvPr/>
        </p:nvSpPr>
        <p:spPr>
          <a:xfrm>
            <a:off x="-1" y="-1"/>
            <a:ext cx="10633363" cy="1519029"/>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TextBox 10">
            <a:extLst>
              <a:ext uri="{FF2B5EF4-FFF2-40B4-BE49-F238E27FC236}">
                <a16:creationId xmlns:a16="http://schemas.microsoft.com/office/drawing/2014/main" id="{886582BB-97AE-3F38-04C3-88A704668880}"/>
              </a:ext>
            </a:extLst>
          </p:cNvPr>
          <p:cNvSpPr txBox="1"/>
          <p:nvPr/>
        </p:nvSpPr>
        <p:spPr>
          <a:xfrm>
            <a:off x="101600" y="72479"/>
            <a:ext cx="10150764" cy="1446550"/>
          </a:xfrm>
          <a:prstGeom prst="rect">
            <a:avLst/>
          </a:prstGeom>
          <a:noFill/>
        </p:spPr>
        <p:txBody>
          <a:bodyPr wrap="square" rtlCol="0">
            <a:spAutoFit/>
          </a:bodyPr>
          <a:lstStyle/>
          <a:p>
            <a:r>
              <a:rPr lang="en-IN" sz="4400" b="1" dirty="0">
                <a:solidFill>
                  <a:schemeClr val="bg1"/>
                </a:solidFill>
                <a:latin typeface="Times New Roman" panose="02020603050405020304" pitchFamily="18" charset="0"/>
                <a:cs typeface="Times New Roman" panose="02020603050405020304" pitchFamily="18" charset="0"/>
              </a:rPr>
              <a:t>Integrity </a:t>
            </a:r>
            <a:r>
              <a:rPr lang="en-US" sz="4400" b="1" dirty="0">
                <a:solidFill>
                  <a:schemeClr val="bg1"/>
                </a:solidFill>
                <a:latin typeface="Times New Roman" pitchFamily="18" charset="0"/>
                <a:cs typeface="Times New Roman" pitchFamily="18" charset="0"/>
              </a:rPr>
              <a:t>and ethical and legal implications and regulations</a:t>
            </a:r>
            <a:r>
              <a:rPr lang="en-IN" sz="4400" b="1" dirty="0">
                <a:solidFill>
                  <a:schemeClr val="bg1"/>
                </a:solidFill>
                <a:latin typeface="Times New Roman" panose="02020603050405020304" pitchFamily="18" charset="0"/>
                <a:cs typeface="Times New Roman" panose="02020603050405020304" pitchFamily="18" charset="0"/>
              </a:rPr>
              <a:t> </a:t>
            </a:r>
          </a:p>
        </p:txBody>
      </p:sp>
      <p:sp>
        <p:nvSpPr>
          <p:cNvPr id="12" name="Rectangle 1">
            <a:extLst>
              <a:ext uri="{FF2B5EF4-FFF2-40B4-BE49-F238E27FC236}">
                <a16:creationId xmlns:a16="http://schemas.microsoft.com/office/drawing/2014/main" id="{F08FAD0C-007E-B271-3686-F117A997A49F}"/>
              </a:ext>
            </a:extLst>
          </p:cNvPr>
          <p:cNvSpPr>
            <a:spLocks noGrp="1" noChangeArrowheads="1"/>
          </p:cNvSpPr>
          <p:nvPr>
            <p:ph idx="1"/>
          </p:nvPr>
        </p:nvSpPr>
        <p:spPr bwMode="auto">
          <a:xfrm>
            <a:off x="766618" y="1688772"/>
            <a:ext cx="11000508" cy="4914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Integrity Considerations: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 accurate gesture detection and reliable appliance control.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Maintain data integrity and truthful reporting of system performance.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Prioritize user safety with proper isolation and regulated power supply. </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Ethical Implications:</a:t>
            </a:r>
          </a:p>
          <a:p>
            <a:r>
              <a:rPr lang="en-US" sz="2000" dirty="0">
                <a:latin typeface="Times New Roman" panose="02020603050405020304" pitchFamily="18" charset="0"/>
                <a:cs typeface="Times New Roman" panose="02020603050405020304" pitchFamily="18" charset="0"/>
              </a:rPr>
              <a:t>User-centered design for accessibility and independence.</a:t>
            </a:r>
          </a:p>
          <a:p>
            <a:r>
              <a:rPr lang="en-US" sz="2000" dirty="0">
                <a:latin typeface="Times New Roman" panose="02020603050405020304" pitchFamily="18" charset="0"/>
                <a:cs typeface="Times New Roman" panose="02020603050405020304" pitchFamily="18" charset="0"/>
              </a:rPr>
              <a:t>Inclusive approach with audio/visual feedback for all users.</a:t>
            </a:r>
          </a:p>
          <a:p>
            <a:r>
              <a:rPr lang="en-US" sz="2000" dirty="0">
                <a:latin typeface="Times New Roman" panose="02020603050405020304" pitchFamily="18" charset="0"/>
                <a:cs typeface="Times New Roman" panose="02020603050405020304" pitchFamily="18" charset="0"/>
              </a:rPr>
              <a:t>Transparency, safety, and informed use to prevent misuse or harm.</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BIC786  - Project Presentation                                       9</a:t>
            </a:r>
            <a:endParaRPr lang="en-IN" dirty="0">
              <a:ln>
                <a:solidFill>
                  <a:schemeClr val="bg1"/>
                </a:solidFill>
              </a:ln>
              <a:solidFill>
                <a:schemeClr val="bg1"/>
              </a:solidFill>
            </a:endParaRPr>
          </a:p>
        </p:txBody>
      </p:sp>
    </p:spTree>
    <p:extLst>
      <p:ext uri="{BB962C8B-B14F-4D97-AF65-F5344CB8AC3E}">
        <p14:creationId xmlns:p14="http://schemas.microsoft.com/office/powerpoint/2010/main" val="1017584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A492BF-CDF1-D3B4-7744-3672DE77AD16}"/>
              </a:ext>
            </a:extLst>
          </p:cNvPr>
          <p:cNvSpPr>
            <a:spLocks noGrp="1"/>
          </p:cNvSpPr>
          <p:nvPr>
            <p:ph idx="1"/>
          </p:nvPr>
        </p:nvSpPr>
        <p:spPr>
          <a:xfrm>
            <a:off x="838200" y="2281381"/>
            <a:ext cx="10515600" cy="3895581"/>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Legal and Regulatory Considerations:</a:t>
            </a:r>
          </a:p>
          <a:p>
            <a:r>
              <a:rPr lang="en-US" sz="2000" dirty="0">
                <a:latin typeface="Times New Roman" panose="02020603050405020304" pitchFamily="18" charset="0"/>
                <a:cs typeface="Times New Roman" panose="02020603050405020304" pitchFamily="18" charset="0"/>
              </a:rPr>
              <a:t>Follow electrical safety standards (IEC/BIS) and proper insulation.</a:t>
            </a:r>
          </a:p>
          <a:p>
            <a:r>
              <a:rPr lang="en-US" sz="2000" dirty="0">
                <a:latin typeface="Times New Roman" panose="02020603050405020304" pitchFamily="18" charset="0"/>
                <a:cs typeface="Times New Roman" panose="02020603050405020304" pitchFamily="18" charset="0"/>
              </a:rPr>
              <a:t>Obtain necessary certifications (CE, ISI, RoHS) for commercialization.</a:t>
            </a:r>
          </a:p>
          <a:p>
            <a:r>
              <a:rPr lang="en-US" sz="2000" dirty="0">
                <a:latin typeface="Times New Roman" panose="02020603050405020304" pitchFamily="18" charset="0"/>
                <a:cs typeface="Times New Roman" panose="02020603050405020304" pitchFamily="18" charset="0"/>
              </a:rPr>
              <a:t>Respect data privacy, IP rights, and assistive technology regulations.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Responsible Use:</a:t>
            </a:r>
          </a:p>
          <a:p>
            <a:r>
              <a:rPr lang="en-US" sz="2000" dirty="0">
                <a:latin typeface="Times New Roman" panose="02020603050405020304" pitchFamily="18" charset="0"/>
                <a:cs typeface="Times New Roman" panose="02020603050405020304" pitchFamily="18" charset="0"/>
              </a:rPr>
              <a:t>Add fail-safes to prevent accidental switching.</a:t>
            </a:r>
          </a:p>
          <a:p>
            <a:r>
              <a:rPr lang="en-US" sz="2000" dirty="0">
                <a:latin typeface="Times New Roman" panose="02020603050405020304" pitchFamily="18" charset="0"/>
                <a:cs typeface="Times New Roman" panose="02020603050405020304" pitchFamily="18" charset="0"/>
              </a:rPr>
              <a:t>Provide clear, accessible user instructions.</a:t>
            </a:r>
          </a:p>
          <a:p>
            <a:r>
              <a:rPr lang="en-US" sz="2000" dirty="0">
                <a:latin typeface="Times New Roman" panose="02020603050405020304" pitchFamily="18" charset="0"/>
                <a:cs typeface="Times New Roman" panose="02020603050405020304" pitchFamily="18" charset="0"/>
              </a:rPr>
              <a:t>Test thoroughly before real-world deployment.</a:t>
            </a:r>
          </a:p>
          <a:p>
            <a:endParaRPr lang="en-IN" dirty="0"/>
          </a:p>
        </p:txBody>
      </p:sp>
      <p:sp>
        <p:nvSpPr>
          <p:cNvPr id="4" name="Slide Number Placeholder 3">
            <a:extLst>
              <a:ext uri="{FF2B5EF4-FFF2-40B4-BE49-F238E27FC236}">
                <a16:creationId xmlns:a16="http://schemas.microsoft.com/office/drawing/2014/main" id="{7297D7AC-39DA-9BAD-ADBC-47614C7D4ADF}"/>
              </a:ext>
            </a:extLst>
          </p:cNvPr>
          <p:cNvSpPr>
            <a:spLocks noGrp="1"/>
          </p:cNvSpPr>
          <p:nvPr>
            <p:ph type="sldNum" sz="quarter" idx="12"/>
          </p:nvPr>
        </p:nvSpPr>
        <p:spPr/>
        <p:txBody>
          <a:bodyPr/>
          <a:lstStyle/>
          <a:p>
            <a:fld id="{249020A1-FA28-4834-83A8-C0CE35CB1668}" type="slidenum">
              <a:rPr lang="en-IN" smtClean="0"/>
              <a:pPr/>
              <a:t>10</a:t>
            </a:fld>
            <a:endParaRPr lang="en-IN"/>
          </a:p>
        </p:txBody>
      </p:sp>
      <p:pic>
        <p:nvPicPr>
          <p:cNvPr id="5" name="Picture 4">
            <a:extLst>
              <a:ext uri="{FF2B5EF4-FFF2-40B4-BE49-F238E27FC236}">
                <a16:creationId xmlns:a16="http://schemas.microsoft.com/office/drawing/2014/main" id="{12CAA146-8D0C-A2F1-E8A5-871A12C7F3C9}"/>
              </a:ext>
            </a:extLst>
          </p:cNvPr>
          <p:cNvPicPr>
            <a:picLocks noChangeAspect="1"/>
          </p:cNvPicPr>
          <p:nvPr/>
        </p:nvPicPr>
        <p:blipFill>
          <a:blip r:embed="rId2"/>
          <a:stretch>
            <a:fillRect/>
          </a:stretch>
        </p:blipFill>
        <p:spPr>
          <a:xfrm>
            <a:off x="0" y="0"/>
            <a:ext cx="10400677" cy="1708727"/>
          </a:xfrm>
          <a:prstGeom prst="rect">
            <a:avLst/>
          </a:prstGeom>
          <a:solidFill>
            <a:srgbClr val="002060"/>
          </a:solidFill>
          <a:ln>
            <a:solidFill>
              <a:srgbClr val="002060"/>
            </a:solidFill>
          </a:ln>
        </p:spPr>
      </p:pic>
      <p:sp>
        <p:nvSpPr>
          <p:cNvPr id="7" name="TextBox 6">
            <a:extLst>
              <a:ext uri="{FF2B5EF4-FFF2-40B4-BE49-F238E27FC236}">
                <a16:creationId xmlns:a16="http://schemas.microsoft.com/office/drawing/2014/main" id="{223CB7BF-1D14-46EC-8E3E-24EFBDD1B9DB}"/>
              </a:ext>
            </a:extLst>
          </p:cNvPr>
          <p:cNvSpPr txBox="1"/>
          <p:nvPr/>
        </p:nvSpPr>
        <p:spPr>
          <a:xfrm>
            <a:off x="0" y="6535450"/>
            <a:ext cx="12192000" cy="369332"/>
          </a:xfrm>
          <a:prstGeom prst="rect">
            <a:avLst/>
          </a:prstGeom>
          <a:solidFill>
            <a:srgbClr val="002060"/>
          </a:solidFill>
        </p:spPr>
        <p:txBody>
          <a:bodyPr wrap="square" rtlCol="0">
            <a:spAutoFit/>
          </a:bodyPr>
          <a:lstStyle/>
          <a:p>
            <a:r>
              <a:rPr lang="en-IN" dirty="0">
                <a:ln>
                  <a:solidFill>
                    <a:schemeClr val="bg1"/>
                  </a:solidFill>
                </a:ln>
                <a:solidFill>
                  <a:schemeClr val="bg1"/>
                </a:solidFill>
              </a:rPr>
              <a:t> </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Dept. of CSE (</a:t>
            </a:r>
            <a:r>
              <a:rPr lang="en-IN" dirty="0" err="1">
                <a:ln>
                  <a:solidFill>
                    <a:schemeClr val="bg1"/>
                  </a:solidFill>
                </a:ln>
                <a:solidFill>
                  <a:schemeClr val="bg1"/>
                </a:solidFill>
                <a:latin typeface="Times New Roman" panose="02020603050405020304" pitchFamily="18" charset="0"/>
                <a:cs typeface="Times New Roman" panose="02020603050405020304" pitchFamily="18" charset="0"/>
              </a:rPr>
              <a:t>IoT&amp;CSBT</a:t>
            </a:r>
            <a:r>
              <a:rPr lang="en-IN" dirty="0">
                <a:ln>
                  <a:solidFill>
                    <a:schemeClr val="bg1"/>
                  </a:solidFill>
                </a:ln>
                <a:solidFill>
                  <a:schemeClr val="bg1"/>
                </a:solidFill>
                <a:latin typeface="Times New Roman" panose="02020603050405020304" pitchFamily="18" charset="0"/>
                <a:cs typeface="Times New Roman" panose="02020603050405020304" pitchFamily="18" charset="0"/>
              </a:rPr>
              <a:t>), EPCET                                                         BIC786  - Project Presentation                                       10</a:t>
            </a:r>
            <a:endParaRPr lang="en-IN" dirty="0">
              <a:ln>
                <a:solidFill>
                  <a:schemeClr val="bg1"/>
                </a:solidFill>
              </a:ln>
              <a:solidFill>
                <a:schemeClr val="bg1"/>
              </a:solidFill>
            </a:endParaRPr>
          </a:p>
        </p:txBody>
      </p:sp>
    </p:spTree>
    <p:extLst>
      <p:ext uri="{BB962C8B-B14F-4D97-AF65-F5344CB8AC3E}">
        <p14:creationId xmlns:p14="http://schemas.microsoft.com/office/powerpoint/2010/main" val="669928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dirty="0"/>
          </a:p>
        </p:txBody>
      </p:sp>
      <p:sp>
        <p:nvSpPr>
          <p:cNvPr id="5" name="Content Placeholder 4"/>
          <p:cNvSpPr>
            <a:spLocks noGrp="1"/>
          </p:cNvSpPr>
          <p:nvPr>
            <p:ph idx="1"/>
          </p:nvPr>
        </p:nvSpPr>
        <p:spPr/>
        <p:txBody>
          <a:bodyPr/>
          <a:lstStyle/>
          <a:p>
            <a:pPr>
              <a:buNone/>
            </a:pPr>
            <a:endParaRPr lang="en-US" dirty="0"/>
          </a:p>
        </p:txBody>
      </p:sp>
      <p:sp>
        <p:nvSpPr>
          <p:cNvPr id="6" name="Rectangle 5"/>
          <p:cNvSpPr/>
          <p:nvPr/>
        </p:nvSpPr>
        <p:spPr>
          <a:xfrm>
            <a:off x="3378201" y="3130034"/>
            <a:ext cx="5671572" cy="1107996"/>
          </a:xfrm>
          <a:prstGeom prst="rect">
            <a:avLst/>
          </a:prstGeom>
        </p:spPr>
        <p:txBody>
          <a:bodyPr wrap="square">
            <a:spAutoFit/>
          </a:bodyPr>
          <a:lstStyle/>
          <a:p>
            <a:pPr lvl="1"/>
            <a:r>
              <a:rPr lang="en-IN" sz="6600" b="1" dirty="0">
                <a:latin typeface="Times New Roman" panose="02020603050405020304" pitchFamily="18" charset="0"/>
                <a:ea typeface="Tahoma" panose="020B0604030504040204" pitchFamily="34" charset="0"/>
                <a:cs typeface="Times New Roman" panose="02020603050405020304" pitchFamily="18" charset="0"/>
              </a:rPr>
              <a:t>Thank You!</a:t>
            </a:r>
          </a:p>
        </p:txBody>
      </p:sp>
      <p:sp>
        <p:nvSpPr>
          <p:cNvPr id="2" name="Slide Number Placeholder 1">
            <a:extLst>
              <a:ext uri="{FF2B5EF4-FFF2-40B4-BE49-F238E27FC236}">
                <a16:creationId xmlns:a16="http://schemas.microsoft.com/office/drawing/2014/main" id="{1ECB1D74-9A8F-57E6-CF9D-8536F1D7FCD6}"/>
              </a:ext>
            </a:extLst>
          </p:cNvPr>
          <p:cNvSpPr>
            <a:spLocks noGrp="1"/>
          </p:cNvSpPr>
          <p:nvPr>
            <p:ph type="sldNum" sz="quarter" idx="12"/>
          </p:nvPr>
        </p:nvSpPr>
        <p:spPr/>
        <p:txBody>
          <a:bodyPr/>
          <a:lstStyle/>
          <a:p>
            <a:endParaRPr lang="en-IN" dirty="0"/>
          </a:p>
        </p:txBody>
      </p:sp>
    </p:spTree>
    <p:extLst>
      <p:ext uri="{BB962C8B-B14F-4D97-AF65-F5344CB8AC3E}">
        <p14:creationId xmlns:p14="http://schemas.microsoft.com/office/powerpoint/2010/main" val="2743816960"/>
      </p:ext>
    </p:extLst>
  </p:cSld>
  <p:clrMapOvr>
    <a:masterClrMapping/>
  </p:clrMapOvr>
</p:sld>
</file>

<file path=ppt/theme/theme1.xml><?xml version="1.0" encoding="utf-8"?>
<a:theme xmlns:a="http://schemas.openxmlformats.org/drawingml/2006/main" name="SAI VIDYA INSTITUTE OF TECHNOLOGY">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I VIDYA INSTITUTE OF TECHNOLOGY" id="{6E2E0BFB-66C5-439C-9215-787BD78E550D}" vid="{4BA40E75-3BD3-4897-98E8-5C67A83245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SAI VIDYA INSTITUTE OF TECHNOLOGY</Template>
  <TotalTime>1260</TotalTime>
  <Words>781</Words>
  <Application>Microsoft Office PowerPoint</Application>
  <PresentationFormat>Widescreen</PresentationFormat>
  <Paragraphs>95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SAI VIDYA INSTITUTE OF TECHNOLOGY</vt:lpstr>
      <vt:lpstr>EAST POINT COLLEGE OF ENGINEERING &amp; TECHNOLOGY</vt:lpstr>
      <vt:lpstr>Presentation Outline</vt:lpstr>
      <vt:lpstr>Design and methodology</vt:lpstr>
      <vt:lpstr>Design and methodology</vt:lpstr>
      <vt:lpstr>Methodology</vt:lpstr>
      <vt:lpstr>Methodology</vt:lpstr>
      <vt:lpstr>Methodology</vt:lpstr>
      <vt:lpstr>Implementation technique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SAI VIDYA INSTITUTE OF TECHNOLOGY</dc:title>
  <dc:creator>abhijith</dc:creator>
  <cp:lastModifiedBy>sonu sonu</cp:lastModifiedBy>
  <cp:revision>117</cp:revision>
  <dcterms:created xsi:type="dcterms:W3CDTF">2018-09-27T05:23:08Z</dcterms:created>
  <dcterms:modified xsi:type="dcterms:W3CDTF">2025-12-01T06:11:27Z</dcterms:modified>
</cp:coreProperties>
</file>